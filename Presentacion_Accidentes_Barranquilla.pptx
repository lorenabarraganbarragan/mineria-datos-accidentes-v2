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ortada" id="{B3A13BC8-CE8C-E27C-5818-4248A6AF703C}">
          <p14:sldIdLst>
            <p14:sldId id="256"/>
          </p14:sldIdLst>
        </p14:section>
        <p14:section name="EDA" id="{D96B4F21-7916-D45E-9A55-F262F4FBA488}">
          <p14:sldIdLst>
            <p14:sldId id="257"/>
            <p14:sldId id="258"/>
            <p14:sldId id="259"/>
            <p14:sldId id="260"/>
          </p14:sldIdLst>
        </p14:section>
        <p14:section name="Árbol de decisión" id="{3569B7A1-ACED-E449-C1D9-5E4644AF88E2}">
          <p14:sldIdLst>
            <p14:sldId id="261"/>
            <p14:sldId id="262"/>
            <p14:sldId id="26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81" d="100"/>
          <a:sy n="81" d="100"/>
        </p:scale>
        <p:origin x="725" y="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060143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Confirma en el árbol generado las condiciones que menciones (clase del accidente y umbrales de comparendos 95,5 y 217,5) antes de presentarlas.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Recalca los 124 días de accidentalidad alta que el modelo clasificó como bajos: es el error más importante.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ORTADA"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731520" y="1600200"/>
            <a:ext cx="7223760" cy="29260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4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IDO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749808"/>
            <a:ext cx="11091672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400" b="1" dirty="0">
                <a:solidFill>
                  <a:schemeClr val="tx2"/>
                </a:solidFill>
              </a:defRPr>
            </a:lvl1pPr>
          </a:lstStyle>
          <a:p>
            <a:pPr marL="0" indent="0" algn="l">
              <a:buNone/>
            </a:pPr>
            <a:endParaRPr lang="en-US" sz="3400" dirty="0"/>
          </a:p>
        </p:txBody>
      </p:sp>
      <p:sp>
        <p:nvSpPr>
          <p:cNvPr id="3" name="Text 0"/>
          <p:cNvSpPr/>
          <p:nvPr/>
        </p:nvSpPr>
        <p:spPr>
          <a:xfrm>
            <a:off x="548640" y="64190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accent5"/>
                </a:solidFill>
              </a:rPr>
              <a:t>Análisis de datos y clasificación de accidentes de tránsito · Barranquilla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5912" y="6419088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5912" y="6419088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9.png"/><Relationship Id="rId11" Type="http://schemas.openxmlformats.org/officeDocument/2006/relationships/image" Target="../media/image14.png"/><Relationship Id="rId5" Type="http://schemas.openxmlformats.org/officeDocument/2006/relationships/image" Target="../media/image8.pn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9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nillo decorativo"/>
          <p:cNvSpPr/>
          <p:nvPr/>
        </p:nvSpPr>
        <p:spPr>
          <a:xfrm>
            <a:off x="7680960" y="1188720"/>
            <a:ext cx="4480560" cy="4480560"/>
          </a:xfrm>
          <a:prstGeom prst="ellipse">
            <a:avLst/>
          </a:prstGeom>
          <a:ln w="19050">
            <a:solidFill>
              <a:srgbClr val="2A3B63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Círculo decorativo"/>
          <p:cNvSpPr/>
          <p:nvPr/>
        </p:nvSpPr>
        <p:spPr>
          <a:xfrm>
            <a:off x="8183880" y="1691640"/>
            <a:ext cx="3474720" cy="3474720"/>
          </a:xfrm>
          <a:prstGeom prst="ellipse">
            <a:avLst/>
          </a:prstGeom>
          <a:solidFill>
            <a:srgbClr val="1B2D55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4" name="Semáforo"/>
          <p:cNvSpPr/>
          <p:nvPr/>
        </p:nvSpPr>
        <p:spPr>
          <a:xfrm>
            <a:off x="9144000" y="1508760"/>
            <a:ext cx="1554480" cy="3840480"/>
          </a:xfrm>
          <a:prstGeom prst="roundRect">
            <a:avLst>
              <a:gd name="adj" fmla="val 20588"/>
            </a:avLst>
          </a:prstGeom>
          <a:solidFill>
            <a:srgbClr val="0B1220"/>
          </a:solidFill>
          <a:ln w="254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" name="Shape 3"/>
          <p:cNvSpPr/>
          <p:nvPr/>
        </p:nvSpPr>
        <p:spPr>
          <a:xfrm>
            <a:off x="9418320" y="1783080"/>
            <a:ext cx="1005840" cy="1005840"/>
          </a:xfrm>
          <a:prstGeom prst="ellipse">
            <a:avLst/>
          </a:prstGeom>
          <a:solidFill>
            <a:srgbClr val="EF4444">
              <a:alpha val="35000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6" name="Shape 4"/>
          <p:cNvSpPr/>
          <p:nvPr/>
        </p:nvSpPr>
        <p:spPr>
          <a:xfrm>
            <a:off x="9418320" y="2926080"/>
            <a:ext cx="1005840" cy="100584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7" name="Shape 5"/>
          <p:cNvSpPr/>
          <p:nvPr/>
        </p:nvSpPr>
        <p:spPr>
          <a:xfrm>
            <a:off x="9418320" y="4069080"/>
            <a:ext cx="1005840" cy="1005840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8" name="Text 6"/>
          <p:cNvSpPr txBox="1"/>
          <p:nvPr/>
        </p:nvSpPr>
        <p:spPr>
          <a:xfrm>
            <a:off x="731520" y="1005840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chemeClr val="accent1"/>
                </a:solidFill>
              </a:rPr>
              <a:t>ANÁLISIS EXPLORATORIO · ÁRBOL DE DECISIÓN</a:t>
            </a:r>
            <a:endParaRPr lang="en-US" sz="1400" dirty="0"/>
          </a:p>
        </p:txBody>
      </p:sp>
      <p:sp>
        <p:nvSpPr>
          <p:cNvPr id="9" name="Text 0"/>
          <p:cNvSpPr>
            <a:spLocks noGrp="1"/>
          </p:cNvSpPr>
          <p:nvPr>
            <p:ph type="title" idx="100" hasCustomPrompt="1"/>
          </p:nvPr>
        </p:nvSpPr>
        <p:spPr>
          <a:xfrm>
            <a:off x="731520" y="1600200"/>
            <a:ext cx="72237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000" b="1" dirty="0">
                <a:solidFill>
                  <a:schemeClr val="bg1"/>
                </a:solidFill>
              </a:rPr>
              <a:t>Análisis de datos y clasificación de accidentes de tránsito en Barranquilla</a:t>
            </a:r>
            <a:endParaRPr lang="en-US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4892040"/>
            <a:ext cx="7223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bg1"/>
                </a:solidFill>
              </a:rPr>
              <a:t>Lorena Barragan </a:t>
            </a:r>
            <a:r>
              <a:rPr lang="en-US" sz="2000" b="1" dirty="0" err="1">
                <a:solidFill>
                  <a:schemeClr val="bg1"/>
                </a:solidFill>
              </a:rPr>
              <a:t>Barragan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5349240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6"/>
                </a:solidFill>
              </a:rPr>
              <a:t>UNIMINUTO  ·  </a:t>
            </a:r>
            <a:r>
              <a:rPr lang="en-US" sz="1400" dirty="0" err="1">
                <a:solidFill>
                  <a:schemeClr val="accent6"/>
                </a:solidFill>
              </a:rPr>
              <a:t>Mineria</a:t>
            </a:r>
            <a:r>
              <a:rPr lang="en-US" sz="1400" dirty="0">
                <a:solidFill>
                  <a:schemeClr val="accent6"/>
                </a:solidFill>
              </a:rPr>
              <a:t> de Datos  ·  </a:t>
            </a:r>
            <a:r>
              <a:rPr lang="en-US" sz="1400" dirty="0" err="1">
                <a:solidFill>
                  <a:schemeClr val="accent6"/>
                </a:solidFill>
              </a:rPr>
              <a:t>Docente</a:t>
            </a:r>
            <a:r>
              <a:rPr lang="en-US" sz="1400" dirty="0">
                <a:solidFill>
                  <a:schemeClr val="accent6"/>
                </a:solidFill>
              </a:rPr>
              <a:t>: Esteban Morales  ·  26/10/2026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 de sección"/>
          <p:cNvSpPr/>
          <p:nvPr/>
        </p:nvSpPr>
        <p:spPr>
          <a:xfrm>
            <a:off x="548640" y="384048"/>
            <a:ext cx="3474720" cy="29260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694944" y="475488"/>
            <a:ext cx="109728" cy="109728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 txBox="1"/>
          <p:nvPr/>
        </p:nvSpPr>
        <p:spPr>
          <a:xfrm>
            <a:off x="896112" y="384048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chemeClr val="tx2"/>
                </a:solidFill>
              </a:rPr>
              <a:t>ANÁLISIS EXPLORATORIO (EDA)</a:t>
            </a:r>
            <a:endParaRPr lang="en-US" sz="1200" dirty="0"/>
          </a:p>
        </p:txBody>
      </p:sp>
      <p:sp>
        <p:nvSpPr>
          <p:cNvPr id="5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749808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2"/>
                </a:solidFill>
              </a:rPr>
              <a:t>Contexto, objetivo y metodología</a:t>
            </a:r>
            <a:endParaRPr lang="en-US" sz="3400" dirty="0"/>
          </a:p>
        </p:txBody>
      </p:sp>
      <p:sp>
        <p:nvSpPr>
          <p:cNvPr id="6" name="Objetivo"/>
          <p:cNvSpPr/>
          <p:nvPr/>
        </p:nvSpPr>
        <p:spPr>
          <a:xfrm>
            <a:off x="548640" y="1600200"/>
            <a:ext cx="5120640" cy="2103120"/>
          </a:xfrm>
          <a:prstGeom prst="roundRect">
            <a:avLst>
              <a:gd name="adj" fmla="val 5217"/>
            </a:avLst>
          </a:prstGeom>
          <a:solidFill>
            <a:schemeClr val="tx2"/>
          </a:solidFill>
          <a:ln/>
          <a:effectLst>
            <a:outerShdw blurRad="127000" dist="254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 txBox="1"/>
          <p:nvPr/>
        </p:nvSpPr>
        <p:spPr>
          <a:xfrm>
            <a:off x="822960" y="181051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chemeClr val="accent1"/>
                </a:solidFill>
              </a:rPr>
              <a:t>OBJETIVO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194560"/>
            <a:ext cx="4572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bg1"/>
                </a:solidFill>
              </a:rPr>
              <a:t>Analizar los accidentes de tránsito y explorar su relación con la precipitación y los comparendos.</a:t>
            </a:r>
            <a:endParaRPr lang="en-US" sz="1800" dirty="0"/>
          </a:p>
        </p:txBody>
      </p:sp>
      <p:sp>
        <p:nvSpPr>
          <p:cNvPr id="9" name="Dataset"/>
          <p:cNvSpPr/>
          <p:nvPr/>
        </p:nvSpPr>
        <p:spPr>
          <a:xfrm>
            <a:off x="548640" y="3886200"/>
            <a:ext cx="5120640" cy="2331720"/>
          </a:xfrm>
          <a:prstGeom prst="roundRect">
            <a:avLst>
              <a:gd name="adj" fmla="val 4706"/>
            </a:avLst>
          </a:prstGeom>
          <a:solidFill>
            <a:schemeClr val="accent1"/>
          </a:solidFill>
          <a:ln/>
          <a:effectLst>
            <a:outerShdw blurRad="127000" dist="254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0" name="Text 8"/>
          <p:cNvSpPr txBox="1"/>
          <p:nvPr/>
        </p:nvSpPr>
        <p:spPr>
          <a:xfrm>
            <a:off x="822960" y="411480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600" b="1" dirty="0">
                <a:solidFill>
                  <a:schemeClr val="tx2"/>
                </a:solidFill>
              </a:rPr>
              <a:t>3.047</a:t>
            </a:r>
            <a:endParaRPr lang="en-US" sz="66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534924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2"/>
                </a:solidFill>
              </a:rPr>
              <a:t>registros en el dataset analizado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526280" y="4297680"/>
            <a:ext cx="822960" cy="822960"/>
          </a:xfrm>
          <a:prstGeom prst="ellipse">
            <a:avLst/>
          </a:prstGeom>
          <a:solidFill>
            <a:srgbClr val="14213D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2020" y="4503420"/>
            <a:ext cx="411480" cy="4114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5943600" y="160020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chemeClr val="accent5"/>
                </a:solidFill>
              </a:rPr>
              <a:t>HERRAMIENTAS</a:t>
            </a:r>
            <a:endParaRPr lang="en-US" sz="1200" dirty="0"/>
          </a:p>
        </p:txBody>
      </p:sp>
      <p:sp>
        <p:nvSpPr>
          <p:cNvPr id="15" name="Herramienta: Python"/>
          <p:cNvSpPr/>
          <p:nvPr/>
        </p:nvSpPr>
        <p:spPr>
          <a:xfrm>
            <a:off x="5943600" y="1920240"/>
            <a:ext cx="1051560" cy="457200"/>
          </a:xfrm>
          <a:prstGeom prst="roundRect">
            <a:avLst>
              <a:gd name="adj" fmla="val 24000"/>
            </a:avLst>
          </a:prstGeom>
          <a:solidFill>
            <a:schemeClr val="bg1"/>
          </a:solidFill>
          <a:ln/>
          <a:effectLst>
            <a:outerShdw blurRad="127000" dist="254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6" name="Text 13"/>
          <p:cNvSpPr txBox="1"/>
          <p:nvPr/>
        </p:nvSpPr>
        <p:spPr>
          <a:xfrm>
            <a:off x="5943600" y="1920240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2"/>
                </a:solidFill>
              </a:rPr>
              <a:t>Python</a:t>
            </a:r>
            <a:endParaRPr lang="en-US" sz="1400" dirty="0"/>
          </a:p>
        </p:txBody>
      </p:sp>
      <p:sp>
        <p:nvSpPr>
          <p:cNvPr id="17" name="Herramienta: Pandas"/>
          <p:cNvSpPr/>
          <p:nvPr/>
        </p:nvSpPr>
        <p:spPr>
          <a:xfrm>
            <a:off x="7086600" y="1920240"/>
            <a:ext cx="1097280" cy="457200"/>
          </a:xfrm>
          <a:prstGeom prst="roundRect">
            <a:avLst>
              <a:gd name="adj" fmla="val 24000"/>
            </a:avLst>
          </a:prstGeom>
          <a:solidFill>
            <a:schemeClr val="bg1"/>
          </a:solidFill>
          <a:ln/>
          <a:effectLst>
            <a:outerShdw blurRad="127000" dist="254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8" name="Text 15"/>
          <p:cNvSpPr txBox="1"/>
          <p:nvPr/>
        </p:nvSpPr>
        <p:spPr>
          <a:xfrm>
            <a:off x="7086600" y="19202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2"/>
                </a:solidFill>
              </a:rPr>
              <a:t>Pandas</a:t>
            </a:r>
            <a:endParaRPr lang="en-US" sz="1400" dirty="0"/>
          </a:p>
        </p:txBody>
      </p:sp>
      <p:sp>
        <p:nvSpPr>
          <p:cNvPr id="19" name="Herramienta: Matplotlib"/>
          <p:cNvSpPr/>
          <p:nvPr/>
        </p:nvSpPr>
        <p:spPr>
          <a:xfrm>
            <a:off x="8275320" y="1920240"/>
            <a:ext cx="1417320" cy="457200"/>
          </a:xfrm>
          <a:prstGeom prst="roundRect">
            <a:avLst>
              <a:gd name="adj" fmla="val 24000"/>
            </a:avLst>
          </a:prstGeom>
          <a:solidFill>
            <a:schemeClr val="bg1"/>
          </a:solidFill>
          <a:ln/>
          <a:effectLst>
            <a:outerShdw blurRad="127000" dist="254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0" name="Text 17"/>
          <p:cNvSpPr txBox="1"/>
          <p:nvPr/>
        </p:nvSpPr>
        <p:spPr>
          <a:xfrm>
            <a:off x="8275320" y="192024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2"/>
                </a:solidFill>
              </a:rPr>
              <a:t>Matplotlib</a:t>
            </a:r>
            <a:endParaRPr lang="en-US" sz="1400" dirty="0"/>
          </a:p>
        </p:txBody>
      </p:sp>
      <p:sp>
        <p:nvSpPr>
          <p:cNvPr id="21" name="Herramienta: Análisis estadístico"/>
          <p:cNvSpPr/>
          <p:nvPr/>
        </p:nvSpPr>
        <p:spPr>
          <a:xfrm>
            <a:off x="9784080" y="1920240"/>
            <a:ext cx="1783080" cy="457200"/>
          </a:xfrm>
          <a:prstGeom prst="roundRect">
            <a:avLst>
              <a:gd name="adj" fmla="val 24000"/>
            </a:avLst>
          </a:prstGeom>
          <a:solidFill>
            <a:schemeClr val="bg1"/>
          </a:solidFill>
          <a:ln/>
          <a:effectLst>
            <a:outerShdw blurRad="127000" dist="254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2" name="Text 19"/>
          <p:cNvSpPr txBox="1"/>
          <p:nvPr/>
        </p:nvSpPr>
        <p:spPr>
          <a:xfrm>
            <a:off x="9784080" y="192024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2"/>
                </a:solidFill>
              </a:rPr>
              <a:t>Análisis estadístico</a:t>
            </a:r>
            <a:endParaRPr lang="en-US" sz="1400" dirty="0"/>
          </a:p>
        </p:txBody>
      </p:sp>
      <p:sp>
        <p:nvSpPr>
          <p:cNvPr id="23" name="Text 20"/>
          <p:cNvSpPr txBox="1"/>
          <p:nvPr/>
        </p:nvSpPr>
        <p:spPr>
          <a:xfrm>
            <a:off x="5943600" y="265176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chemeClr val="accent5"/>
                </a:solidFill>
              </a:rPr>
              <a:t>TÉCNICAS</a:t>
            </a:r>
            <a:endParaRPr lang="en-US" sz="1200" dirty="0"/>
          </a:p>
        </p:txBody>
      </p:sp>
      <p:sp>
        <p:nvSpPr>
          <p:cNvPr id="24" name="Técnica: Histogramas"/>
          <p:cNvSpPr/>
          <p:nvPr/>
        </p:nvSpPr>
        <p:spPr>
          <a:xfrm>
            <a:off x="5943600" y="2971800"/>
            <a:ext cx="2807208" cy="82296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/>
          <a:effectLst>
            <a:outerShdw blurRad="127000" dist="254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5" name="Shape 22"/>
          <p:cNvSpPr/>
          <p:nvPr/>
        </p:nvSpPr>
        <p:spPr>
          <a:xfrm>
            <a:off x="6108192" y="3127248"/>
            <a:ext cx="512064" cy="512064"/>
          </a:xfrm>
          <a:prstGeom prst="ellipse">
            <a:avLst/>
          </a:prstGeom>
          <a:solidFill>
            <a:srgbClr val="14213D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2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6208" y="3255264"/>
            <a:ext cx="256032" cy="256032"/>
          </a:xfrm>
          <a:prstGeom prst="rect">
            <a:avLst/>
          </a:prstGeom>
        </p:spPr>
      </p:pic>
      <p:sp>
        <p:nvSpPr>
          <p:cNvPr id="27" name="Text 23"/>
          <p:cNvSpPr txBox="1"/>
          <p:nvPr/>
        </p:nvSpPr>
        <p:spPr>
          <a:xfrm>
            <a:off x="6766560" y="2971800"/>
            <a:ext cx="1874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Histogramas</a:t>
            </a:r>
            <a:endParaRPr lang="en-US" sz="1400" dirty="0"/>
          </a:p>
        </p:txBody>
      </p:sp>
      <p:sp>
        <p:nvSpPr>
          <p:cNvPr id="28" name="Técnica: Diagramas de caja"/>
          <p:cNvSpPr/>
          <p:nvPr/>
        </p:nvSpPr>
        <p:spPr>
          <a:xfrm>
            <a:off x="8833104" y="2971800"/>
            <a:ext cx="2807208" cy="82296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/>
          <a:effectLst>
            <a:outerShdw blurRad="127000" dist="254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9" name="Shape 25"/>
          <p:cNvSpPr/>
          <p:nvPr/>
        </p:nvSpPr>
        <p:spPr>
          <a:xfrm>
            <a:off x="8997696" y="3127248"/>
            <a:ext cx="512064" cy="512064"/>
          </a:xfrm>
          <a:prstGeom prst="ellipse">
            <a:avLst/>
          </a:prstGeom>
          <a:solidFill>
            <a:srgbClr val="14213D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3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25712" y="3255264"/>
            <a:ext cx="256032" cy="256032"/>
          </a:xfrm>
          <a:prstGeom prst="rect">
            <a:avLst/>
          </a:prstGeom>
        </p:spPr>
      </p:pic>
      <p:sp>
        <p:nvSpPr>
          <p:cNvPr id="31" name="Text 26"/>
          <p:cNvSpPr txBox="1"/>
          <p:nvPr/>
        </p:nvSpPr>
        <p:spPr>
          <a:xfrm>
            <a:off x="9656064" y="2971800"/>
            <a:ext cx="1874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Diagramas de caja</a:t>
            </a:r>
            <a:endParaRPr lang="en-US" sz="1400" dirty="0"/>
          </a:p>
        </p:txBody>
      </p:sp>
      <p:sp>
        <p:nvSpPr>
          <p:cNvPr id="32" name="Técnica: Gráficos de categorías"/>
          <p:cNvSpPr/>
          <p:nvPr/>
        </p:nvSpPr>
        <p:spPr>
          <a:xfrm>
            <a:off x="5943600" y="3931920"/>
            <a:ext cx="2807208" cy="82296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/>
          <a:effectLst>
            <a:outerShdw blurRad="127000" dist="254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33" name="Shape 28"/>
          <p:cNvSpPr/>
          <p:nvPr/>
        </p:nvSpPr>
        <p:spPr>
          <a:xfrm>
            <a:off x="6108192" y="4087368"/>
            <a:ext cx="512064" cy="512064"/>
          </a:xfrm>
          <a:prstGeom prst="ellipse">
            <a:avLst/>
          </a:prstGeom>
          <a:solidFill>
            <a:srgbClr val="14213D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3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36208" y="4215384"/>
            <a:ext cx="256032" cy="256032"/>
          </a:xfrm>
          <a:prstGeom prst="rect">
            <a:avLst/>
          </a:prstGeom>
        </p:spPr>
      </p:pic>
      <p:sp>
        <p:nvSpPr>
          <p:cNvPr id="35" name="Text 29"/>
          <p:cNvSpPr txBox="1"/>
          <p:nvPr/>
        </p:nvSpPr>
        <p:spPr>
          <a:xfrm>
            <a:off x="6766560" y="3896650"/>
            <a:ext cx="1874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Gráficos de categorías</a:t>
            </a:r>
            <a:endParaRPr lang="en-US" sz="1400" dirty="0"/>
          </a:p>
        </p:txBody>
      </p:sp>
      <p:sp>
        <p:nvSpPr>
          <p:cNvPr id="36" name="Técnica: Correlaciones"/>
          <p:cNvSpPr/>
          <p:nvPr/>
        </p:nvSpPr>
        <p:spPr>
          <a:xfrm>
            <a:off x="8833104" y="3931920"/>
            <a:ext cx="2807208" cy="82296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/>
          <a:effectLst>
            <a:outerShdw blurRad="127000" dist="254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37" name="Shape 31"/>
          <p:cNvSpPr/>
          <p:nvPr/>
        </p:nvSpPr>
        <p:spPr>
          <a:xfrm>
            <a:off x="8997696" y="4087368"/>
            <a:ext cx="512064" cy="512064"/>
          </a:xfrm>
          <a:prstGeom prst="ellipse">
            <a:avLst/>
          </a:prstGeom>
          <a:solidFill>
            <a:srgbClr val="14213D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3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25712" y="4215384"/>
            <a:ext cx="256032" cy="256032"/>
          </a:xfrm>
          <a:prstGeom prst="rect">
            <a:avLst/>
          </a:prstGeom>
        </p:spPr>
      </p:pic>
      <p:sp>
        <p:nvSpPr>
          <p:cNvPr id="39" name="Text 32"/>
          <p:cNvSpPr txBox="1"/>
          <p:nvPr/>
        </p:nvSpPr>
        <p:spPr>
          <a:xfrm>
            <a:off x="9656064" y="3931920"/>
            <a:ext cx="1874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Correlaciones</a:t>
            </a:r>
            <a:endParaRPr lang="en-US" sz="1400" dirty="0"/>
          </a:p>
        </p:txBody>
      </p:sp>
      <p:sp>
        <p:nvSpPr>
          <p:cNvPr id="4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5912" y="6419088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 de sección"/>
          <p:cNvSpPr/>
          <p:nvPr/>
        </p:nvSpPr>
        <p:spPr>
          <a:xfrm>
            <a:off x="548640" y="384048"/>
            <a:ext cx="3474720" cy="29260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694944" y="475488"/>
            <a:ext cx="109728" cy="109728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 txBox="1"/>
          <p:nvPr/>
        </p:nvSpPr>
        <p:spPr>
          <a:xfrm>
            <a:off x="896112" y="384048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chemeClr val="tx2"/>
                </a:solidFill>
              </a:rPr>
              <a:t>ANÁLISIS EXPLORATORIO (EDA)</a:t>
            </a:r>
            <a:endParaRPr lang="en-US" sz="1200" dirty="0"/>
          </a:p>
        </p:txBody>
      </p:sp>
      <p:sp>
        <p:nvSpPr>
          <p:cNvPr id="5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749808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2"/>
                </a:solidFill>
              </a:rPr>
              <a:t>Distribución y valores atípicos</a:t>
            </a:r>
            <a:endParaRPr lang="en-US" sz="3400" dirty="0"/>
          </a:p>
        </p:txBody>
      </p:sp>
      <p:sp>
        <p:nvSpPr>
          <p:cNvPr id="8" name="Text 5"/>
          <p:cNvSpPr txBox="1"/>
          <p:nvPr/>
        </p:nvSpPr>
        <p:spPr>
          <a:xfrm>
            <a:off x="716280" y="14630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accent5"/>
                </a:solidFill>
              </a:rPr>
              <a:t>Histograma · Accidentes por día</a:t>
            </a:r>
            <a:endParaRPr lang="en-US" sz="1200" dirty="0"/>
          </a:p>
        </p:txBody>
      </p:sp>
      <p:sp>
        <p:nvSpPr>
          <p:cNvPr id="11" name="Text 7"/>
          <p:cNvSpPr txBox="1"/>
          <p:nvPr/>
        </p:nvSpPr>
        <p:spPr>
          <a:xfrm>
            <a:off x="3154680" y="1465933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accent5"/>
                </a:solidFill>
              </a:rPr>
              <a:t>Histograma · Precipitación</a:t>
            </a:r>
            <a:endParaRPr lang="en-US" sz="1200" dirty="0"/>
          </a:p>
        </p:txBody>
      </p:sp>
      <p:sp>
        <p:nvSpPr>
          <p:cNvPr id="14" name="Text 9"/>
          <p:cNvSpPr txBox="1"/>
          <p:nvPr/>
        </p:nvSpPr>
        <p:spPr>
          <a:xfrm>
            <a:off x="5795772" y="1443446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accent5"/>
                </a:solidFill>
              </a:rPr>
              <a:t>Histograma · Comparendos</a:t>
            </a:r>
            <a:endParaRPr lang="en-US" sz="1200" dirty="0"/>
          </a:p>
        </p:txBody>
      </p:sp>
      <p:sp>
        <p:nvSpPr>
          <p:cNvPr id="17" name="Text 11"/>
          <p:cNvSpPr txBox="1"/>
          <p:nvPr/>
        </p:nvSpPr>
        <p:spPr>
          <a:xfrm>
            <a:off x="557777" y="3406928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accent5"/>
                </a:solidFill>
              </a:rPr>
              <a:t>Diagrama de caja · Accidentes</a:t>
            </a:r>
            <a:endParaRPr lang="en-US" sz="1200" dirty="0"/>
          </a:p>
        </p:txBody>
      </p:sp>
      <p:sp>
        <p:nvSpPr>
          <p:cNvPr id="20" name="Text 13"/>
          <p:cNvSpPr txBox="1"/>
          <p:nvPr/>
        </p:nvSpPr>
        <p:spPr>
          <a:xfrm>
            <a:off x="3311434" y="3401102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accent5"/>
                </a:solidFill>
              </a:rPr>
              <a:t>Diagrama de caja · Precipitación</a:t>
            </a:r>
            <a:endParaRPr lang="en-US" sz="1200" dirty="0"/>
          </a:p>
        </p:txBody>
      </p:sp>
      <p:sp>
        <p:nvSpPr>
          <p:cNvPr id="23" name="Text 15"/>
          <p:cNvSpPr txBox="1"/>
          <p:nvPr/>
        </p:nvSpPr>
        <p:spPr>
          <a:xfrm>
            <a:off x="5881634" y="3401102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accent5"/>
                </a:solidFill>
              </a:rPr>
              <a:t>Diagrama de caja · Comparendos</a:t>
            </a:r>
            <a:endParaRPr lang="en-US" sz="1200" dirty="0"/>
          </a:p>
        </p:txBody>
      </p:sp>
      <p:sp>
        <p:nvSpPr>
          <p:cNvPr id="24" name="Dato: Accidentes promedio/día"/>
          <p:cNvSpPr/>
          <p:nvPr/>
        </p:nvSpPr>
        <p:spPr>
          <a:xfrm>
            <a:off x="8503920" y="1600200"/>
            <a:ext cx="3136392" cy="109728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/>
          <a:effectLst>
            <a:outerShdw blurRad="127000" dist="254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5" name="Text 17"/>
          <p:cNvSpPr txBox="1"/>
          <p:nvPr/>
        </p:nvSpPr>
        <p:spPr>
          <a:xfrm>
            <a:off x="8732520" y="174650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accent5"/>
                </a:solidFill>
              </a:rPr>
              <a:t>Accidentes promedio/día</a:t>
            </a:r>
            <a:endParaRPr lang="en-US" sz="1300" dirty="0"/>
          </a:p>
        </p:txBody>
      </p:sp>
      <p:sp>
        <p:nvSpPr>
          <p:cNvPr id="26" name="Text 18"/>
          <p:cNvSpPr txBox="1"/>
          <p:nvPr/>
        </p:nvSpPr>
        <p:spPr>
          <a:xfrm>
            <a:off x="8732520" y="201168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chemeClr val="tx2"/>
                </a:solidFill>
              </a:rPr>
              <a:t>9,36</a:t>
            </a:r>
            <a:endParaRPr lang="en-US" sz="3600" dirty="0"/>
          </a:p>
        </p:txBody>
      </p:sp>
      <p:sp>
        <p:nvSpPr>
          <p:cNvPr id="27" name="Shape 19"/>
          <p:cNvSpPr/>
          <p:nvPr/>
        </p:nvSpPr>
        <p:spPr>
          <a:xfrm>
            <a:off x="10927080" y="1874520"/>
            <a:ext cx="548640" cy="548640"/>
          </a:xfrm>
          <a:prstGeom prst="ellipse">
            <a:avLst/>
          </a:prstGeom>
          <a:solidFill>
            <a:srgbClr val="14213D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64240" y="2011680"/>
            <a:ext cx="274320" cy="274320"/>
          </a:xfrm>
          <a:prstGeom prst="rect">
            <a:avLst/>
          </a:prstGeom>
        </p:spPr>
      </p:pic>
      <p:sp>
        <p:nvSpPr>
          <p:cNvPr id="29" name="Dato: Precipitación máxima"/>
          <p:cNvSpPr/>
          <p:nvPr/>
        </p:nvSpPr>
        <p:spPr>
          <a:xfrm>
            <a:off x="8503920" y="2880360"/>
            <a:ext cx="3136392" cy="109728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/>
          <a:effectLst>
            <a:outerShdw blurRad="127000" dist="254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30" name="Text 21"/>
          <p:cNvSpPr txBox="1"/>
          <p:nvPr/>
        </p:nvSpPr>
        <p:spPr>
          <a:xfrm>
            <a:off x="8732520" y="302666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accent5"/>
                </a:solidFill>
              </a:rPr>
              <a:t>Precipitación máxima</a:t>
            </a:r>
            <a:endParaRPr lang="en-US" sz="1300" dirty="0"/>
          </a:p>
        </p:txBody>
      </p:sp>
      <p:sp>
        <p:nvSpPr>
          <p:cNvPr id="31" name="Text 22"/>
          <p:cNvSpPr txBox="1"/>
          <p:nvPr/>
        </p:nvSpPr>
        <p:spPr>
          <a:xfrm>
            <a:off x="8732520" y="329184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chemeClr val="tx2"/>
                </a:solidFill>
              </a:rPr>
              <a:t>28</a:t>
            </a:r>
            <a:r>
              <a:rPr lang="en-US" sz="2000" b="1" dirty="0">
                <a:solidFill>
                  <a:schemeClr val="tx2"/>
                </a:solidFill>
              </a:rPr>
              <a:t> mm</a:t>
            </a:r>
            <a:endParaRPr lang="en-US" sz="3600" dirty="0"/>
          </a:p>
        </p:txBody>
      </p:sp>
      <p:sp>
        <p:nvSpPr>
          <p:cNvPr id="32" name="Shape 23"/>
          <p:cNvSpPr/>
          <p:nvPr/>
        </p:nvSpPr>
        <p:spPr>
          <a:xfrm>
            <a:off x="10927080" y="3154680"/>
            <a:ext cx="548640" cy="548640"/>
          </a:xfrm>
          <a:prstGeom prst="ellipse">
            <a:avLst/>
          </a:prstGeom>
          <a:solidFill>
            <a:srgbClr val="14213D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33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64240" y="3291840"/>
            <a:ext cx="274320" cy="274320"/>
          </a:xfrm>
          <a:prstGeom prst="rect">
            <a:avLst/>
          </a:prstGeom>
        </p:spPr>
      </p:pic>
      <p:sp>
        <p:nvSpPr>
          <p:cNvPr id="34" name="Dato: Comparendos promedio/día"/>
          <p:cNvSpPr/>
          <p:nvPr/>
        </p:nvSpPr>
        <p:spPr>
          <a:xfrm>
            <a:off x="8503920" y="4160520"/>
            <a:ext cx="3136392" cy="109728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/>
          <a:effectLst>
            <a:outerShdw blurRad="127000" dist="254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35" name="Text 25"/>
          <p:cNvSpPr txBox="1"/>
          <p:nvPr/>
        </p:nvSpPr>
        <p:spPr>
          <a:xfrm>
            <a:off x="8732520" y="430682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accent5"/>
                </a:solidFill>
              </a:rPr>
              <a:t>Comparendos promedio/día</a:t>
            </a:r>
            <a:endParaRPr lang="en-US" sz="1300" dirty="0"/>
          </a:p>
        </p:txBody>
      </p:sp>
      <p:sp>
        <p:nvSpPr>
          <p:cNvPr id="36" name="Text 26"/>
          <p:cNvSpPr txBox="1"/>
          <p:nvPr/>
        </p:nvSpPr>
        <p:spPr>
          <a:xfrm>
            <a:off x="8732520" y="457200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chemeClr val="tx2"/>
                </a:solidFill>
              </a:rPr>
              <a:t>208,90</a:t>
            </a:r>
            <a:endParaRPr lang="en-US" sz="3600" dirty="0"/>
          </a:p>
        </p:txBody>
      </p:sp>
      <p:sp>
        <p:nvSpPr>
          <p:cNvPr id="37" name="Shape 27"/>
          <p:cNvSpPr/>
          <p:nvPr/>
        </p:nvSpPr>
        <p:spPr>
          <a:xfrm>
            <a:off x="10927080" y="4434840"/>
            <a:ext cx="548640" cy="548640"/>
          </a:xfrm>
          <a:prstGeom prst="ellipse">
            <a:avLst/>
          </a:prstGeom>
          <a:solidFill>
            <a:srgbClr val="14213D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38" name="Image 8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64240" y="4572000"/>
            <a:ext cx="274320" cy="274320"/>
          </a:xfrm>
          <a:prstGeom prst="rect">
            <a:avLst/>
          </a:prstGeom>
        </p:spPr>
      </p:pic>
      <p:sp>
        <p:nvSpPr>
          <p:cNvPr id="39" name="Cuadro destacado"/>
          <p:cNvSpPr/>
          <p:nvPr/>
        </p:nvSpPr>
        <p:spPr>
          <a:xfrm>
            <a:off x="548640" y="5440680"/>
            <a:ext cx="11091672" cy="868680"/>
          </a:xfrm>
          <a:prstGeom prst="roundRect">
            <a:avLst>
              <a:gd name="adj" fmla="val 12632"/>
            </a:avLst>
          </a:prstGeom>
          <a:solidFill>
            <a:schemeClr val="tx2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40" name="Text 29"/>
          <p:cNvSpPr txBox="1"/>
          <p:nvPr/>
        </p:nvSpPr>
        <p:spPr>
          <a:xfrm>
            <a:off x="777240" y="5513832"/>
            <a:ext cx="10634472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Interpretación: </a:t>
            </a:r>
            <a:r>
              <a:rPr lang="en-US" sz="1400" dirty="0">
                <a:solidFill>
                  <a:schemeClr val="bg1"/>
                </a:solidFill>
              </a:rPr>
              <a:t>las tres variables presentan variabilidad. Los accidentes tienen una mediana de 8; la precipitación se concentra en cero y los comparendos presentan algunos valores elevados. Los posibles valores atípicos deben revisarse antes de descartarlos.</a:t>
            </a:r>
            <a:endParaRPr lang="en-US" sz="1400" dirty="0"/>
          </a:p>
        </p:txBody>
      </p:sp>
      <p:sp>
        <p:nvSpPr>
          <p:cNvPr id="4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5912" y="6419088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  <p:pic>
        <p:nvPicPr>
          <p:cNvPr id="43" name="Imagen 42">
            <a:extLst>
              <a:ext uri="{FF2B5EF4-FFF2-40B4-BE49-F238E27FC236}">
                <a16:creationId xmlns:a16="http://schemas.microsoft.com/office/drawing/2014/main" id="{129E337C-3825-75BD-34FE-C1DF894D960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7777" y="1691640"/>
            <a:ext cx="2505463" cy="1530833"/>
          </a:xfrm>
          <a:prstGeom prst="rect">
            <a:avLst/>
          </a:prstGeom>
        </p:spPr>
      </p:pic>
      <p:pic>
        <p:nvPicPr>
          <p:cNvPr id="45" name="Imagen 44">
            <a:extLst>
              <a:ext uri="{FF2B5EF4-FFF2-40B4-BE49-F238E27FC236}">
                <a16:creationId xmlns:a16="http://schemas.microsoft.com/office/drawing/2014/main" id="{4441324F-8D2E-5BB8-078E-AFA3EFAE271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176016" y="1684392"/>
            <a:ext cx="2506980" cy="1545328"/>
          </a:xfrm>
          <a:prstGeom prst="rect">
            <a:avLst/>
          </a:prstGeom>
        </p:spPr>
      </p:pic>
      <p:pic>
        <p:nvPicPr>
          <p:cNvPr id="47" name="Imagen 46">
            <a:extLst>
              <a:ext uri="{FF2B5EF4-FFF2-40B4-BE49-F238E27FC236}">
                <a16:creationId xmlns:a16="http://schemas.microsoft.com/office/drawing/2014/main" id="{A8628777-A136-C876-3034-F28E25F143F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845649" y="1691640"/>
            <a:ext cx="2394519" cy="1478249"/>
          </a:xfrm>
          <a:prstGeom prst="rect">
            <a:avLst/>
          </a:prstGeom>
        </p:spPr>
      </p:pic>
      <p:pic>
        <p:nvPicPr>
          <p:cNvPr id="49" name="Imagen 48">
            <a:extLst>
              <a:ext uri="{FF2B5EF4-FFF2-40B4-BE49-F238E27FC236}">
                <a16:creationId xmlns:a16="http://schemas.microsoft.com/office/drawing/2014/main" id="{98E26E32-EAEA-EB00-5CEB-1FECC939B6B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9076" y="3635528"/>
            <a:ext cx="2476569" cy="1530832"/>
          </a:xfrm>
          <a:prstGeom prst="rect">
            <a:avLst/>
          </a:prstGeom>
        </p:spPr>
      </p:pic>
      <p:pic>
        <p:nvPicPr>
          <p:cNvPr id="51" name="Imagen 50">
            <a:extLst>
              <a:ext uri="{FF2B5EF4-FFF2-40B4-BE49-F238E27FC236}">
                <a16:creationId xmlns:a16="http://schemas.microsoft.com/office/drawing/2014/main" id="{A57F0A04-E7EC-A07A-A5FD-4DC3475E8E5A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249965" y="3663706"/>
            <a:ext cx="2350343" cy="1452809"/>
          </a:xfrm>
          <a:prstGeom prst="rect">
            <a:avLst/>
          </a:prstGeom>
        </p:spPr>
      </p:pic>
      <p:pic>
        <p:nvPicPr>
          <p:cNvPr id="53" name="Imagen 52">
            <a:extLst>
              <a:ext uri="{FF2B5EF4-FFF2-40B4-BE49-F238E27FC236}">
                <a16:creationId xmlns:a16="http://schemas.microsoft.com/office/drawing/2014/main" id="{9694FAEB-C5D1-69AA-57DB-870181DB5BC5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923510" y="3676542"/>
            <a:ext cx="2257208" cy="139524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 de sección"/>
          <p:cNvSpPr/>
          <p:nvPr/>
        </p:nvSpPr>
        <p:spPr>
          <a:xfrm>
            <a:off x="548640" y="384048"/>
            <a:ext cx="3474720" cy="29260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694944" y="475488"/>
            <a:ext cx="109728" cy="109728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 txBox="1"/>
          <p:nvPr/>
        </p:nvSpPr>
        <p:spPr>
          <a:xfrm>
            <a:off x="896112" y="384048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chemeClr val="tx2"/>
                </a:solidFill>
              </a:rPr>
              <a:t>ANÁLISIS EXPLORATORIO (EDA)</a:t>
            </a:r>
            <a:endParaRPr lang="en-US" sz="1200" dirty="0"/>
          </a:p>
        </p:txBody>
      </p:sp>
      <p:sp>
        <p:nvSpPr>
          <p:cNvPr id="5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749808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2"/>
                </a:solidFill>
              </a:rPr>
              <a:t>Distribución de categorías</a:t>
            </a:r>
            <a:endParaRPr lang="en-US" sz="3400" dirty="0"/>
          </a:p>
        </p:txBody>
      </p:sp>
      <p:sp>
        <p:nvSpPr>
          <p:cNvPr id="8" name="Text 5"/>
          <p:cNvSpPr txBox="1"/>
          <p:nvPr/>
        </p:nvSpPr>
        <p:spPr>
          <a:xfrm>
            <a:off x="621792" y="1387182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accent5"/>
                </a:solidFill>
              </a:rPr>
              <a:t>Gráfico de barras · Gravedad del accidente</a:t>
            </a:r>
            <a:endParaRPr lang="en-US" sz="1200" dirty="0"/>
          </a:p>
        </p:txBody>
      </p:sp>
      <p:sp>
        <p:nvSpPr>
          <p:cNvPr id="11" name="Text 7"/>
          <p:cNvSpPr txBox="1"/>
          <p:nvPr/>
        </p:nvSpPr>
        <p:spPr>
          <a:xfrm>
            <a:off x="4448556" y="1403604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accent5"/>
                </a:solidFill>
              </a:rPr>
              <a:t>Gráfico de barras · Clase de accidente</a:t>
            </a:r>
            <a:endParaRPr lang="en-US" sz="1200" dirty="0"/>
          </a:p>
        </p:txBody>
      </p:sp>
      <p:sp>
        <p:nvSpPr>
          <p:cNvPr id="14" name="Text 9"/>
          <p:cNvSpPr txBox="1"/>
          <p:nvPr/>
        </p:nvSpPr>
        <p:spPr>
          <a:xfrm>
            <a:off x="8074152" y="1382937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accent5"/>
                </a:solidFill>
              </a:rPr>
              <a:t>Gráfico de barras · Presencia de lluvia</a:t>
            </a:r>
            <a:endParaRPr lang="en-US" sz="1200" dirty="0"/>
          </a:p>
        </p:txBody>
      </p:sp>
      <p:sp>
        <p:nvSpPr>
          <p:cNvPr id="15" name="Gravedad"/>
          <p:cNvSpPr/>
          <p:nvPr/>
        </p:nvSpPr>
        <p:spPr>
          <a:xfrm>
            <a:off x="548640" y="4069080"/>
            <a:ext cx="3566160" cy="1234440"/>
          </a:xfrm>
          <a:prstGeom prst="roundRect">
            <a:avLst>
              <a:gd name="adj" fmla="val 8889"/>
            </a:avLst>
          </a:prstGeom>
          <a:solidFill>
            <a:schemeClr val="bg1"/>
          </a:solidFill>
          <a:ln/>
          <a:effectLst>
            <a:outerShdw blurRad="127000" dist="254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6" name="Text 11"/>
          <p:cNvSpPr txBox="1"/>
          <p:nvPr/>
        </p:nvSpPr>
        <p:spPr>
          <a:xfrm>
            <a:off x="777240" y="417880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chemeClr val="accent5"/>
                </a:solidFill>
              </a:rPr>
              <a:t>GRAVEDAD</a:t>
            </a:r>
            <a:endParaRPr lang="en-US" sz="1200" dirty="0"/>
          </a:p>
        </p:txBody>
      </p:sp>
      <p:sp>
        <p:nvSpPr>
          <p:cNvPr id="17" name="Text 12"/>
          <p:cNvSpPr txBox="1"/>
          <p:nvPr/>
        </p:nvSpPr>
        <p:spPr>
          <a:xfrm>
            <a:off x="777240" y="445312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Con heridos</a:t>
            </a:r>
            <a:endParaRPr lang="en-US" sz="1400" dirty="0"/>
          </a:p>
        </p:txBody>
      </p:sp>
      <p:sp>
        <p:nvSpPr>
          <p:cNvPr id="18" name="Text 13"/>
          <p:cNvSpPr txBox="1"/>
          <p:nvPr/>
        </p:nvSpPr>
        <p:spPr>
          <a:xfrm>
            <a:off x="2697480" y="445312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400" b="1" dirty="0">
                <a:solidFill>
                  <a:schemeClr val="tx2"/>
                </a:solidFill>
              </a:rPr>
              <a:t>53,46 %</a:t>
            </a:r>
            <a:endParaRPr lang="en-US" sz="1400" dirty="0"/>
          </a:p>
        </p:txBody>
      </p:sp>
      <p:sp>
        <p:nvSpPr>
          <p:cNvPr id="19" name="Text 14"/>
          <p:cNvSpPr txBox="1"/>
          <p:nvPr/>
        </p:nvSpPr>
        <p:spPr>
          <a:xfrm>
            <a:off x="777240" y="472744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Solo daños</a:t>
            </a:r>
            <a:endParaRPr lang="en-US" sz="1400" dirty="0"/>
          </a:p>
        </p:txBody>
      </p:sp>
      <p:sp>
        <p:nvSpPr>
          <p:cNvPr id="20" name="Text 15"/>
          <p:cNvSpPr txBox="1"/>
          <p:nvPr/>
        </p:nvSpPr>
        <p:spPr>
          <a:xfrm>
            <a:off x="2697480" y="472744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400" b="1" dirty="0">
                <a:solidFill>
                  <a:schemeClr val="tx2"/>
                </a:solidFill>
              </a:rPr>
              <a:t>46,11 %</a:t>
            </a:r>
            <a:endParaRPr lang="en-US" sz="1400" dirty="0"/>
          </a:p>
        </p:txBody>
      </p:sp>
      <p:sp>
        <p:nvSpPr>
          <p:cNvPr id="21" name="Text 16"/>
          <p:cNvSpPr txBox="1"/>
          <p:nvPr/>
        </p:nvSpPr>
        <p:spPr>
          <a:xfrm>
            <a:off x="777240" y="500176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Con muertos</a:t>
            </a:r>
            <a:endParaRPr lang="en-US" sz="1400" dirty="0"/>
          </a:p>
        </p:txBody>
      </p:sp>
      <p:sp>
        <p:nvSpPr>
          <p:cNvPr id="22" name="Text 17"/>
          <p:cNvSpPr txBox="1"/>
          <p:nvPr/>
        </p:nvSpPr>
        <p:spPr>
          <a:xfrm>
            <a:off x="2697480" y="500176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400" b="1" dirty="0">
                <a:solidFill>
                  <a:schemeClr val="tx2"/>
                </a:solidFill>
              </a:rPr>
              <a:t>0,43 %</a:t>
            </a:r>
            <a:endParaRPr lang="en-US" sz="1400" dirty="0"/>
          </a:p>
        </p:txBody>
      </p:sp>
      <p:sp>
        <p:nvSpPr>
          <p:cNvPr id="23" name="Clase"/>
          <p:cNvSpPr/>
          <p:nvPr/>
        </p:nvSpPr>
        <p:spPr>
          <a:xfrm>
            <a:off x="4311396" y="4069080"/>
            <a:ext cx="3566160" cy="1234440"/>
          </a:xfrm>
          <a:prstGeom prst="roundRect">
            <a:avLst>
              <a:gd name="adj" fmla="val 8889"/>
            </a:avLst>
          </a:prstGeom>
          <a:solidFill>
            <a:schemeClr val="bg1"/>
          </a:solidFill>
          <a:ln/>
          <a:effectLst>
            <a:outerShdw blurRad="127000" dist="254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4" name="Text 19"/>
          <p:cNvSpPr txBox="1"/>
          <p:nvPr/>
        </p:nvSpPr>
        <p:spPr>
          <a:xfrm>
            <a:off x="4539996" y="417880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chemeClr val="accent5"/>
                </a:solidFill>
              </a:rPr>
              <a:t>CLASE DE ACCIDENTE</a:t>
            </a:r>
            <a:endParaRPr lang="en-US" sz="1200" dirty="0"/>
          </a:p>
        </p:txBody>
      </p:sp>
      <p:sp>
        <p:nvSpPr>
          <p:cNvPr id="25" name="Text 20"/>
          <p:cNvSpPr txBox="1"/>
          <p:nvPr/>
        </p:nvSpPr>
        <p:spPr>
          <a:xfrm>
            <a:off x="4539996" y="443484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chemeClr val="tx2"/>
                </a:solidFill>
              </a:rPr>
              <a:t>2.940</a:t>
            </a:r>
            <a:r>
              <a:rPr lang="en-US" sz="1600" dirty="0">
                <a:solidFill>
                  <a:schemeClr val="tx2"/>
                </a:solidFill>
              </a:rPr>
              <a:t>  de 3.047</a:t>
            </a:r>
            <a:endParaRPr lang="en-US" sz="3400" dirty="0"/>
          </a:p>
        </p:txBody>
      </p:sp>
      <p:sp>
        <p:nvSpPr>
          <p:cNvPr id="26" name="Text 21"/>
          <p:cNvSpPr txBox="1"/>
          <p:nvPr/>
        </p:nvSpPr>
        <p:spPr>
          <a:xfrm>
            <a:off x="4539996" y="498348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registros son choques</a:t>
            </a:r>
            <a:endParaRPr lang="en-US" sz="1400" dirty="0"/>
          </a:p>
        </p:txBody>
      </p:sp>
      <p:sp>
        <p:nvSpPr>
          <p:cNvPr id="27" name="Lluvia"/>
          <p:cNvSpPr/>
          <p:nvPr/>
        </p:nvSpPr>
        <p:spPr>
          <a:xfrm>
            <a:off x="8074152" y="4069080"/>
            <a:ext cx="3566160" cy="1234440"/>
          </a:xfrm>
          <a:prstGeom prst="roundRect">
            <a:avLst>
              <a:gd name="adj" fmla="val 8889"/>
            </a:avLst>
          </a:prstGeom>
          <a:solidFill>
            <a:schemeClr val="bg1"/>
          </a:solidFill>
          <a:ln/>
          <a:effectLst>
            <a:outerShdw blurRad="127000" dist="254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8" name="Text 23"/>
          <p:cNvSpPr txBox="1"/>
          <p:nvPr/>
        </p:nvSpPr>
        <p:spPr>
          <a:xfrm>
            <a:off x="8302752" y="417880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chemeClr val="accent5"/>
                </a:solidFill>
              </a:rPr>
              <a:t>PRESENCIA DE LLUVIA</a:t>
            </a:r>
            <a:endParaRPr lang="en-US" sz="1200" dirty="0"/>
          </a:p>
        </p:txBody>
      </p:sp>
      <p:sp>
        <p:nvSpPr>
          <p:cNvPr id="29" name="Text 24"/>
          <p:cNvSpPr txBox="1"/>
          <p:nvPr/>
        </p:nvSpPr>
        <p:spPr>
          <a:xfrm>
            <a:off x="8302752" y="443484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chemeClr val="tx2"/>
                </a:solidFill>
              </a:rPr>
              <a:t>80,18 %</a:t>
            </a:r>
            <a:endParaRPr lang="en-US" sz="3400" dirty="0"/>
          </a:p>
        </p:txBody>
      </p:sp>
      <p:sp>
        <p:nvSpPr>
          <p:cNvPr id="30" name="Text 25"/>
          <p:cNvSpPr txBox="1"/>
          <p:nvPr/>
        </p:nvSpPr>
        <p:spPr>
          <a:xfrm>
            <a:off x="8302752" y="498348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aparece como «Sin dato»</a:t>
            </a:r>
            <a:endParaRPr lang="en-US" sz="1400" dirty="0"/>
          </a:p>
        </p:txBody>
      </p:sp>
      <p:sp>
        <p:nvSpPr>
          <p:cNvPr id="31" name="Cuadro destacado"/>
          <p:cNvSpPr/>
          <p:nvPr/>
        </p:nvSpPr>
        <p:spPr>
          <a:xfrm>
            <a:off x="548640" y="5440680"/>
            <a:ext cx="11091672" cy="868680"/>
          </a:xfrm>
          <a:prstGeom prst="roundRect">
            <a:avLst>
              <a:gd name="adj" fmla="val 12632"/>
            </a:avLst>
          </a:prstGeom>
          <a:solidFill>
            <a:schemeClr val="tx2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2" name="Text 27"/>
          <p:cNvSpPr txBox="1"/>
          <p:nvPr/>
        </p:nvSpPr>
        <p:spPr>
          <a:xfrm>
            <a:off x="777240" y="5513832"/>
            <a:ext cx="10634472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Hallazgo: </a:t>
            </a:r>
            <a:r>
              <a:rPr lang="en-US" sz="1400" dirty="0">
                <a:solidFill>
                  <a:schemeClr val="bg1"/>
                </a:solidFill>
              </a:rPr>
              <a:t>predominan los choques y los accidentes con heridos. La falta de datos de lluvia limita la interpretación de su posible relación con la accidentalidad.</a:t>
            </a:r>
            <a:endParaRPr lang="en-US" sz="1400" dirty="0"/>
          </a:p>
        </p:txBody>
      </p:sp>
      <p:sp>
        <p:nvSpPr>
          <p:cNvPr id="3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5912" y="6419088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  <p:pic>
        <p:nvPicPr>
          <p:cNvPr id="35" name="Imagen 34">
            <a:extLst>
              <a:ext uri="{FF2B5EF4-FFF2-40B4-BE49-F238E27FC236}">
                <a16:creationId xmlns:a16="http://schemas.microsoft.com/office/drawing/2014/main" id="{FC3D05E2-ED71-95DC-338A-C2E64E7B3C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5032" y="1662250"/>
            <a:ext cx="3574293" cy="1946973"/>
          </a:xfrm>
          <a:prstGeom prst="rect">
            <a:avLst/>
          </a:prstGeom>
        </p:spPr>
      </p:pic>
      <p:pic>
        <p:nvPicPr>
          <p:cNvPr id="37" name="Imagen 36">
            <a:extLst>
              <a:ext uri="{FF2B5EF4-FFF2-40B4-BE49-F238E27FC236}">
                <a16:creationId xmlns:a16="http://schemas.microsoft.com/office/drawing/2014/main" id="{F8139519-2349-B3F6-297A-1148D4CD0BF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65229" y="1683196"/>
            <a:ext cx="3543747" cy="1946972"/>
          </a:xfrm>
          <a:prstGeom prst="rect">
            <a:avLst/>
          </a:prstGeom>
        </p:spPr>
      </p:pic>
      <p:pic>
        <p:nvPicPr>
          <p:cNvPr id="39" name="Imagen 38">
            <a:extLst>
              <a:ext uri="{FF2B5EF4-FFF2-40B4-BE49-F238E27FC236}">
                <a16:creationId xmlns:a16="http://schemas.microsoft.com/office/drawing/2014/main" id="{0981F77C-0705-4D97-0CCA-98BF71DB61D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41743" y="1682877"/>
            <a:ext cx="3589425" cy="194697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 de sección"/>
          <p:cNvSpPr/>
          <p:nvPr/>
        </p:nvSpPr>
        <p:spPr>
          <a:xfrm>
            <a:off x="548640" y="384048"/>
            <a:ext cx="3474720" cy="29260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694944" y="475488"/>
            <a:ext cx="109728" cy="109728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 txBox="1"/>
          <p:nvPr/>
        </p:nvSpPr>
        <p:spPr>
          <a:xfrm>
            <a:off x="896112" y="384048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chemeClr val="tx2"/>
                </a:solidFill>
              </a:rPr>
              <a:t>ANÁLISIS EXPLORATORIO (EDA)</a:t>
            </a:r>
            <a:endParaRPr lang="en-US" sz="1200" dirty="0"/>
          </a:p>
        </p:txBody>
      </p:sp>
      <p:sp>
        <p:nvSpPr>
          <p:cNvPr id="5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749808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2"/>
                </a:solidFill>
              </a:rPr>
              <a:t>Correlaciones y hallazgos del EDA</a:t>
            </a:r>
            <a:endParaRPr lang="en-US" sz="3400" dirty="0"/>
          </a:p>
        </p:txBody>
      </p:sp>
      <p:sp>
        <p:nvSpPr>
          <p:cNvPr id="11" name="Text 7"/>
          <p:cNvSpPr txBox="1"/>
          <p:nvPr/>
        </p:nvSpPr>
        <p:spPr>
          <a:xfrm>
            <a:off x="7004304" y="489017"/>
            <a:ext cx="4782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accent5"/>
                </a:solidFill>
              </a:rPr>
              <a:t>Matriz de </a:t>
            </a:r>
            <a:r>
              <a:rPr lang="en-US" sz="1200" dirty="0" err="1">
                <a:solidFill>
                  <a:schemeClr val="accent5"/>
                </a:solidFill>
              </a:rPr>
              <a:t>dispersión</a:t>
            </a:r>
            <a:r>
              <a:rPr lang="en-US" sz="1200" dirty="0">
                <a:solidFill>
                  <a:schemeClr val="accent5"/>
                </a:solidFill>
              </a:rPr>
              <a:t> </a:t>
            </a:r>
            <a:endParaRPr lang="en-US" sz="1200" dirty="0"/>
          </a:p>
        </p:txBody>
      </p:sp>
      <p:sp>
        <p:nvSpPr>
          <p:cNvPr id="12" name="Text 8"/>
          <p:cNvSpPr txBox="1"/>
          <p:nvPr/>
        </p:nvSpPr>
        <p:spPr>
          <a:xfrm>
            <a:off x="6583680" y="338328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chemeClr val="accent5"/>
                </a:solidFill>
              </a:rPr>
              <a:t>COEFICIENTE DE CORRELACIÓN</a:t>
            </a:r>
            <a:endParaRPr lang="en-US" sz="1200" dirty="0"/>
          </a:p>
        </p:txBody>
      </p:sp>
      <p:sp>
        <p:nvSpPr>
          <p:cNvPr id="13" name="Correlación: Accidentes–precipitación"/>
          <p:cNvSpPr/>
          <p:nvPr/>
        </p:nvSpPr>
        <p:spPr>
          <a:xfrm>
            <a:off x="6583680" y="3703320"/>
            <a:ext cx="5056632" cy="502920"/>
          </a:xfrm>
          <a:prstGeom prst="roundRect">
            <a:avLst>
              <a:gd name="adj" fmla="val 21818"/>
            </a:avLst>
          </a:prstGeom>
          <a:solidFill>
            <a:schemeClr val="bg1"/>
          </a:solidFill>
          <a:ln/>
          <a:effectLst>
            <a:outerShdw blurRad="127000" dist="254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4" name="Text 10"/>
          <p:cNvSpPr txBox="1"/>
          <p:nvPr/>
        </p:nvSpPr>
        <p:spPr>
          <a:xfrm>
            <a:off x="6766560" y="370332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Accidentes–precipitación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9646920" y="3899916"/>
            <a:ext cx="1188720" cy="109728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6" name="Shape 12"/>
          <p:cNvSpPr/>
          <p:nvPr/>
        </p:nvSpPr>
        <p:spPr>
          <a:xfrm>
            <a:off x="9646920" y="3899916"/>
            <a:ext cx="75365" cy="109728"/>
          </a:xfrm>
          <a:prstGeom prst="roundRect">
            <a:avLst>
              <a:gd name="adj" fmla="val 72798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7" name="Text 13"/>
          <p:cNvSpPr txBox="1"/>
          <p:nvPr/>
        </p:nvSpPr>
        <p:spPr>
          <a:xfrm>
            <a:off x="10881360" y="3703320"/>
            <a:ext cx="685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chemeClr val="tx2"/>
                </a:solidFill>
              </a:rPr>
              <a:t>0,0634</a:t>
            </a:r>
            <a:endParaRPr lang="en-US" sz="1400" dirty="0"/>
          </a:p>
        </p:txBody>
      </p:sp>
      <p:sp>
        <p:nvSpPr>
          <p:cNvPr id="18" name="Correlación: Accidentes–comparendos"/>
          <p:cNvSpPr/>
          <p:nvPr/>
        </p:nvSpPr>
        <p:spPr>
          <a:xfrm>
            <a:off x="6583680" y="4251960"/>
            <a:ext cx="5056632" cy="502920"/>
          </a:xfrm>
          <a:prstGeom prst="roundRect">
            <a:avLst>
              <a:gd name="adj" fmla="val 21818"/>
            </a:avLst>
          </a:prstGeom>
          <a:solidFill>
            <a:schemeClr val="bg1"/>
          </a:solidFill>
          <a:ln/>
          <a:effectLst>
            <a:outerShdw blurRad="127000" dist="254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9" name="Text 15"/>
          <p:cNvSpPr txBox="1"/>
          <p:nvPr/>
        </p:nvSpPr>
        <p:spPr>
          <a:xfrm>
            <a:off x="6766560" y="425196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Accidentes–comparendos</a:t>
            </a:r>
            <a:endParaRPr lang="en-US" sz="1400" dirty="0"/>
          </a:p>
        </p:txBody>
      </p:sp>
      <p:sp>
        <p:nvSpPr>
          <p:cNvPr id="20" name="Shape 16"/>
          <p:cNvSpPr/>
          <p:nvPr/>
        </p:nvSpPr>
        <p:spPr>
          <a:xfrm>
            <a:off x="9646920" y="4448556"/>
            <a:ext cx="1188720" cy="109728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1" name="Shape 17"/>
          <p:cNvSpPr/>
          <p:nvPr/>
        </p:nvSpPr>
        <p:spPr>
          <a:xfrm>
            <a:off x="9646920" y="4448556"/>
            <a:ext cx="158813" cy="10972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2" name="Text 18"/>
          <p:cNvSpPr txBox="1"/>
          <p:nvPr/>
        </p:nvSpPr>
        <p:spPr>
          <a:xfrm>
            <a:off x="10881360" y="4251960"/>
            <a:ext cx="685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chemeClr val="tx2"/>
                </a:solidFill>
              </a:rPr>
              <a:t>0,1336</a:t>
            </a:r>
            <a:endParaRPr lang="en-US" sz="1400" dirty="0"/>
          </a:p>
        </p:txBody>
      </p:sp>
      <p:sp>
        <p:nvSpPr>
          <p:cNvPr id="23" name="Correlación: Precipitación–comparendos"/>
          <p:cNvSpPr/>
          <p:nvPr/>
        </p:nvSpPr>
        <p:spPr>
          <a:xfrm>
            <a:off x="6583680" y="4800600"/>
            <a:ext cx="5056632" cy="502920"/>
          </a:xfrm>
          <a:prstGeom prst="roundRect">
            <a:avLst>
              <a:gd name="adj" fmla="val 21818"/>
            </a:avLst>
          </a:prstGeom>
          <a:solidFill>
            <a:schemeClr val="bg1"/>
          </a:solidFill>
          <a:ln/>
          <a:effectLst>
            <a:outerShdw blurRad="127000" dist="254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4" name="Text 20"/>
          <p:cNvSpPr txBox="1"/>
          <p:nvPr/>
        </p:nvSpPr>
        <p:spPr>
          <a:xfrm>
            <a:off x="6766560" y="480060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Precipitación–comparendos</a:t>
            </a:r>
            <a:endParaRPr lang="en-US" sz="1400" dirty="0"/>
          </a:p>
        </p:txBody>
      </p:sp>
      <p:sp>
        <p:nvSpPr>
          <p:cNvPr id="25" name="Shape 21"/>
          <p:cNvSpPr/>
          <p:nvPr/>
        </p:nvSpPr>
        <p:spPr>
          <a:xfrm>
            <a:off x="9646920" y="4997196"/>
            <a:ext cx="1188720" cy="109728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6" name="Shape 22"/>
          <p:cNvSpPr/>
          <p:nvPr/>
        </p:nvSpPr>
        <p:spPr>
          <a:xfrm>
            <a:off x="9646920" y="4997196"/>
            <a:ext cx="45720" cy="109728"/>
          </a:xfrm>
          <a:prstGeom prst="roundRect">
            <a:avLst>
              <a:gd name="adj" fmla="val 120000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7" name="Text 23"/>
          <p:cNvSpPr txBox="1"/>
          <p:nvPr/>
        </p:nvSpPr>
        <p:spPr>
          <a:xfrm>
            <a:off x="10881360" y="4800600"/>
            <a:ext cx="685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chemeClr val="tx2"/>
                </a:solidFill>
              </a:rPr>
              <a:t>0,0179</a:t>
            </a:r>
            <a:endParaRPr lang="en-US" sz="1400" dirty="0"/>
          </a:p>
        </p:txBody>
      </p:sp>
      <p:sp>
        <p:nvSpPr>
          <p:cNvPr id="28" name="Cuadro destacado"/>
          <p:cNvSpPr/>
          <p:nvPr/>
        </p:nvSpPr>
        <p:spPr>
          <a:xfrm>
            <a:off x="548640" y="5486400"/>
            <a:ext cx="11091672" cy="822960"/>
          </a:xfrm>
          <a:prstGeom prst="roundRect">
            <a:avLst>
              <a:gd name="adj" fmla="val 13333"/>
            </a:avLst>
          </a:prstGeom>
          <a:solidFill>
            <a:schemeClr val="tx2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9" name="Text 25"/>
          <p:cNvSpPr txBox="1"/>
          <p:nvPr/>
        </p:nvSpPr>
        <p:spPr>
          <a:xfrm>
            <a:off x="777240" y="5559552"/>
            <a:ext cx="1063447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Conclusión: </a:t>
            </a:r>
            <a:r>
              <a:rPr lang="en-US" sz="1400" dirty="0">
                <a:solidFill>
                  <a:schemeClr val="bg1"/>
                </a:solidFill>
              </a:rPr>
              <a:t>las relaciones lineales son muy débiles o prácticamente nulas. No se demuestra que la lluvia o los comparendos causen accidentes.</a:t>
            </a:r>
            <a:endParaRPr lang="en-US" sz="1400" dirty="0"/>
          </a:p>
        </p:txBody>
      </p:sp>
      <p:sp>
        <p:nvSpPr>
          <p:cNvPr id="3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5912" y="6419088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  <p:pic>
        <p:nvPicPr>
          <p:cNvPr id="32" name="Imagen 31">
            <a:extLst>
              <a:ext uri="{FF2B5EF4-FFF2-40B4-BE49-F238E27FC236}">
                <a16:creationId xmlns:a16="http://schemas.microsoft.com/office/drawing/2014/main" id="{04D8D913-958E-44B3-20EB-8F55608045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4501" y="1481328"/>
            <a:ext cx="4800801" cy="3707852"/>
          </a:xfrm>
          <a:prstGeom prst="rect">
            <a:avLst/>
          </a:prstGeom>
        </p:spPr>
      </p:pic>
      <p:pic>
        <p:nvPicPr>
          <p:cNvPr id="37" name="Imagen 36">
            <a:extLst>
              <a:ext uri="{FF2B5EF4-FFF2-40B4-BE49-F238E27FC236}">
                <a16:creationId xmlns:a16="http://schemas.microsoft.com/office/drawing/2014/main" id="{D709D801-4127-0986-6FF8-F6BB42D71D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44891" y="804732"/>
            <a:ext cx="2301138" cy="230424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 de sección"/>
          <p:cNvSpPr/>
          <p:nvPr/>
        </p:nvSpPr>
        <p:spPr>
          <a:xfrm>
            <a:off x="548640" y="384048"/>
            <a:ext cx="2468880" cy="29260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694944" y="475488"/>
            <a:ext cx="109728" cy="109728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 txBox="1"/>
          <p:nvPr/>
        </p:nvSpPr>
        <p:spPr>
          <a:xfrm>
            <a:off x="896112" y="38404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chemeClr val="tx2"/>
                </a:solidFill>
              </a:rPr>
              <a:t>ÁRBOL DE DECISIÓN</a:t>
            </a:r>
            <a:endParaRPr lang="en-US" sz="1200" dirty="0"/>
          </a:p>
        </p:txBody>
      </p:sp>
      <p:sp>
        <p:nvSpPr>
          <p:cNvPr id="5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749808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2"/>
                </a:solidFill>
              </a:rPr>
              <a:t>Objetivo, variables y construcción del árbol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60020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chemeClr val="accent5"/>
                </a:solidFill>
              </a:rPr>
              <a:t>OBJETIVO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892808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Clasificar los días en dos grupos según la cantidad de accidentes.</a:t>
            </a:r>
            <a:endParaRPr lang="en-US" sz="1600" dirty="0"/>
          </a:p>
        </p:txBody>
      </p:sp>
      <p:sp>
        <p:nvSpPr>
          <p:cNvPr id="8" name="Clase 0"/>
          <p:cNvSpPr/>
          <p:nvPr/>
        </p:nvSpPr>
        <p:spPr>
          <a:xfrm>
            <a:off x="548640" y="2560320"/>
            <a:ext cx="2651760" cy="1554480"/>
          </a:xfrm>
          <a:prstGeom prst="roundRect">
            <a:avLst>
              <a:gd name="adj" fmla="val 7059"/>
            </a:avLst>
          </a:prstGeom>
          <a:solidFill>
            <a:schemeClr val="accent2"/>
          </a:solidFill>
          <a:ln/>
          <a:effectLst>
            <a:outerShdw blurRad="127000" dist="254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9" name="Text 7"/>
          <p:cNvSpPr txBox="1"/>
          <p:nvPr/>
        </p:nvSpPr>
        <p:spPr>
          <a:xfrm>
            <a:off x="777240" y="269748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chemeClr val="bg1"/>
                </a:solidFill>
              </a:rPr>
              <a:t>CLASE 0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30175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</a:rPr>
              <a:t>Accidentes bajos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347472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chemeClr val="bg1"/>
                </a:solidFill>
              </a:rPr>
              <a:t>8 o menos</a:t>
            </a:r>
            <a:endParaRPr lang="en-US" sz="2800" dirty="0"/>
          </a:p>
        </p:txBody>
      </p:sp>
      <p:sp>
        <p:nvSpPr>
          <p:cNvPr id="12" name="Clase 1"/>
          <p:cNvSpPr/>
          <p:nvPr/>
        </p:nvSpPr>
        <p:spPr>
          <a:xfrm>
            <a:off x="3383280" y="2560320"/>
            <a:ext cx="2651760" cy="1554480"/>
          </a:xfrm>
          <a:prstGeom prst="roundRect">
            <a:avLst>
              <a:gd name="adj" fmla="val 7059"/>
            </a:avLst>
          </a:prstGeom>
          <a:solidFill>
            <a:schemeClr val="accent1"/>
          </a:solidFill>
          <a:ln/>
          <a:effectLst>
            <a:outerShdw blurRad="127000" dist="254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3" name="Text 11"/>
          <p:cNvSpPr txBox="1"/>
          <p:nvPr/>
        </p:nvSpPr>
        <p:spPr>
          <a:xfrm>
            <a:off x="3611880" y="269748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chemeClr val="tx2"/>
                </a:solidFill>
              </a:rPr>
              <a:t>CLASE 1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3611880" y="30175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Accidentes altos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3611880" y="347472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chemeClr val="tx2"/>
                </a:solidFill>
              </a:rPr>
              <a:t>Más de 8</a:t>
            </a:r>
            <a:endParaRPr lang="en-US" sz="28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429768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chemeClr val="accent5"/>
                </a:solidFill>
              </a:rPr>
              <a:t>VARIABLES PREDICTORAS</a:t>
            </a:r>
            <a:endParaRPr lang="en-US" sz="1200" dirty="0"/>
          </a:p>
        </p:txBody>
      </p:sp>
      <p:sp>
        <p:nvSpPr>
          <p:cNvPr id="17" name="Variable: Clase de accidente"/>
          <p:cNvSpPr/>
          <p:nvPr/>
        </p:nvSpPr>
        <p:spPr>
          <a:xfrm>
            <a:off x="548640" y="4617720"/>
            <a:ext cx="2651760" cy="594360"/>
          </a:xfrm>
          <a:prstGeom prst="roundRect">
            <a:avLst>
              <a:gd name="adj" fmla="val 18462"/>
            </a:avLst>
          </a:prstGeom>
          <a:solidFill>
            <a:schemeClr val="bg1"/>
          </a:solidFill>
          <a:ln/>
          <a:effectLst>
            <a:outerShdw blurRad="127000" dist="254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8" name="Text 16"/>
          <p:cNvSpPr txBox="1"/>
          <p:nvPr/>
        </p:nvSpPr>
        <p:spPr>
          <a:xfrm>
            <a:off x="685800" y="461772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2"/>
                </a:solidFill>
              </a:rPr>
              <a:t>Clase de accidente</a:t>
            </a:r>
            <a:endParaRPr lang="en-US" sz="1400" dirty="0"/>
          </a:p>
        </p:txBody>
      </p:sp>
      <p:sp>
        <p:nvSpPr>
          <p:cNvPr id="19" name="Variable: Cantidad de comparendos"/>
          <p:cNvSpPr/>
          <p:nvPr/>
        </p:nvSpPr>
        <p:spPr>
          <a:xfrm>
            <a:off x="3383280" y="4617720"/>
            <a:ext cx="2651760" cy="594360"/>
          </a:xfrm>
          <a:prstGeom prst="roundRect">
            <a:avLst>
              <a:gd name="adj" fmla="val 18462"/>
            </a:avLst>
          </a:prstGeom>
          <a:solidFill>
            <a:schemeClr val="bg1"/>
          </a:solidFill>
          <a:ln/>
          <a:effectLst>
            <a:outerShdw blurRad="127000" dist="254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0" name="Text 18"/>
          <p:cNvSpPr txBox="1"/>
          <p:nvPr/>
        </p:nvSpPr>
        <p:spPr>
          <a:xfrm>
            <a:off x="3520440" y="461772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2"/>
                </a:solidFill>
              </a:rPr>
              <a:t>Cantidad de comparendos</a:t>
            </a:r>
            <a:endParaRPr lang="en-US" sz="1400" dirty="0"/>
          </a:p>
        </p:txBody>
      </p:sp>
      <p:sp>
        <p:nvSpPr>
          <p:cNvPr id="21" name="Variable: Clase del vehículo"/>
          <p:cNvSpPr/>
          <p:nvPr/>
        </p:nvSpPr>
        <p:spPr>
          <a:xfrm>
            <a:off x="548640" y="5303520"/>
            <a:ext cx="2651760" cy="594360"/>
          </a:xfrm>
          <a:prstGeom prst="roundRect">
            <a:avLst>
              <a:gd name="adj" fmla="val 18462"/>
            </a:avLst>
          </a:prstGeom>
          <a:solidFill>
            <a:schemeClr val="bg1"/>
          </a:solidFill>
          <a:ln/>
          <a:effectLst>
            <a:outerShdw blurRad="127000" dist="254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2" name="Text 20"/>
          <p:cNvSpPr txBox="1"/>
          <p:nvPr/>
        </p:nvSpPr>
        <p:spPr>
          <a:xfrm>
            <a:off x="685800" y="530352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2"/>
                </a:solidFill>
              </a:rPr>
              <a:t>Clase del vehículo</a:t>
            </a:r>
            <a:endParaRPr lang="en-US" sz="1400" dirty="0"/>
          </a:p>
        </p:txBody>
      </p:sp>
      <p:sp>
        <p:nvSpPr>
          <p:cNvPr id="23" name="Variable: Servicio del vehículo del infractor"/>
          <p:cNvSpPr/>
          <p:nvPr/>
        </p:nvSpPr>
        <p:spPr>
          <a:xfrm>
            <a:off x="3383280" y="5303520"/>
            <a:ext cx="2651760" cy="594360"/>
          </a:xfrm>
          <a:prstGeom prst="roundRect">
            <a:avLst>
              <a:gd name="adj" fmla="val 18462"/>
            </a:avLst>
          </a:prstGeom>
          <a:solidFill>
            <a:schemeClr val="bg1"/>
          </a:solidFill>
          <a:ln/>
          <a:effectLst>
            <a:outerShdw blurRad="127000" dist="254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4" name="Text 22"/>
          <p:cNvSpPr txBox="1"/>
          <p:nvPr/>
        </p:nvSpPr>
        <p:spPr>
          <a:xfrm>
            <a:off x="3520440" y="530352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2"/>
                </a:solidFill>
              </a:rPr>
              <a:t>Servicio del vehículo del infractor</a:t>
            </a:r>
            <a:endParaRPr lang="en-US" sz="1400" dirty="0"/>
          </a:p>
        </p:txBody>
      </p:sp>
      <p:sp>
        <p:nvSpPr>
          <p:cNvPr id="25" name="Configuración"/>
          <p:cNvSpPr/>
          <p:nvPr/>
        </p:nvSpPr>
        <p:spPr>
          <a:xfrm>
            <a:off x="6309360" y="1600200"/>
            <a:ext cx="5330952" cy="2651760"/>
          </a:xfrm>
          <a:prstGeom prst="roundRect">
            <a:avLst>
              <a:gd name="adj" fmla="val 4138"/>
            </a:avLst>
          </a:prstGeom>
          <a:solidFill>
            <a:schemeClr val="tx2"/>
          </a:solidFill>
          <a:ln/>
          <a:effectLst>
            <a:outerShdw blurRad="127000" dist="254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6" name="Text 24"/>
          <p:cNvSpPr txBox="1"/>
          <p:nvPr/>
        </p:nvSpPr>
        <p:spPr>
          <a:xfrm>
            <a:off x="6537960" y="178308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chemeClr val="accent1"/>
                </a:solidFill>
              </a:rPr>
              <a:t>CONFIGURACIÓN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6537960" y="228600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bg1"/>
                </a:solidFill>
              </a:rPr>
              <a:t>80 %</a:t>
            </a:r>
            <a:endParaRPr lang="en-US" sz="3000" dirty="0"/>
          </a:p>
        </p:txBody>
      </p:sp>
      <p:sp>
        <p:nvSpPr>
          <p:cNvPr id="28" name="Text 26"/>
          <p:cNvSpPr txBox="1"/>
          <p:nvPr/>
        </p:nvSpPr>
        <p:spPr>
          <a:xfrm>
            <a:off x="6537960" y="278892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accent6"/>
                </a:solidFill>
              </a:rPr>
              <a:t>Entrenamiento · 2.437 registros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9098280" y="228600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bg1"/>
                </a:solidFill>
              </a:rPr>
              <a:t>20 %</a:t>
            </a:r>
            <a:endParaRPr lang="en-US" sz="3000" dirty="0"/>
          </a:p>
        </p:txBody>
      </p:sp>
      <p:sp>
        <p:nvSpPr>
          <p:cNvPr id="30" name="Text 28"/>
          <p:cNvSpPr txBox="1"/>
          <p:nvPr/>
        </p:nvSpPr>
        <p:spPr>
          <a:xfrm>
            <a:off x="9098280" y="278892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accent6"/>
                </a:solidFill>
              </a:rPr>
              <a:t>Prueba · 610 registros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6537960" y="324612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bg1"/>
                </a:solidFill>
              </a:rPr>
              <a:t>4</a:t>
            </a:r>
            <a:endParaRPr lang="en-US" sz="3000" dirty="0"/>
          </a:p>
        </p:txBody>
      </p:sp>
      <p:sp>
        <p:nvSpPr>
          <p:cNvPr id="32" name="Text 30"/>
          <p:cNvSpPr txBox="1"/>
          <p:nvPr/>
        </p:nvSpPr>
        <p:spPr>
          <a:xfrm>
            <a:off x="6537960" y="374904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accent6"/>
                </a:solidFill>
              </a:rPr>
              <a:t>Profundidad máxima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9098280" y="324612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bg1"/>
                </a:solidFill>
              </a:rPr>
              <a:t>42</a:t>
            </a:r>
            <a:endParaRPr lang="en-US" sz="3000" dirty="0"/>
          </a:p>
        </p:txBody>
      </p:sp>
      <p:sp>
        <p:nvSpPr>
          <p:cNvPr id="34" name="Text 32"/>
          <p:cNvSpPr txBox="1"/>
          <p:nvPr/>
        </p:nvSpPr>
        <p:spPr>
          <a:xfrm>
            <a:off x="9098280" y="374904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accent6"/>
                </a:solidFill>
              </a:rPr>
              <a:t>random_state</a:t>
            </a:r>
            <a:endParaRPr lang="en-US" sz="1300" dirty="0"/>
          </a:p>
        </p:txBody>
      </p:sp>
      <p:sp>
        <p:nvSpPr>
          <p:cNvPr id="3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5912" y="6419088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 de sección"/>
          <p:cNvSpPr/>
          <p:nvPr/>
        </p:nvSpPr>
        <p:spPr>
          <a:xfrm>
            <a:off x="548640" y="384048"/>
            <a:ext cx="2468880" cy="29260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694944" y="475488"/>
            <a:ext cx="109728" cy="109728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 txBox="1"/>
          <p:nvPr/>
        </p:nvSpPr>
        <p:spPr>
          <a:xfrm>
            <a:off x="896112" y="38404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chemeClr val="tx2"/>
                </a:solidFill>
              </a:rPr>
              <a:t>ÁRBOL DE DECISIÓN</a:t>
            </a:r>
            <a:endParaRPr lang="en-US" sz="1200" dirty="0"/>
          </a:p>
        </p:txBody>
      </p:sp>
      <p:sp>
        <p:nvSpPr>
          <p:cNvPr id="5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749808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2"/>
                </a:solidFill>
              </a:rPr>
              <a:t>Reglas y evaluación del modelo</a:t>
            </a:r>
            <a:endParaRPr lang="en-US" sz="34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532180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chemeClr val="accent5"/>
                </a:solidFill>
              </a:rPr>
              <a:t>CONDICIONES CLAVE DEL ÁRBOL</a:t>
            </a:r>
            <a:endParaRPr lang="en-US" sz="1200" dirty="0"/>
          </a:p>
        </p:txBody>
      </p:sp>
      <p:sp>
        <p:nvSpPr>
          <p:cNvPr id="10" name="Condición: Clase de accidente"/>
          <p:cNvSpPr/>
          <p:nvPr/>
        </p:nvSpPr>
        <p:spPr>
          <a:xfrm>
            <a:off x="548640" y="5641848"/>
            <a:ext cx="2130552" cy="548640"/>
          </a:xfrm>
          <a:prstGeom prst="roundRect">
            <a:avLst>
              <a:gd name="adj" fmla="val 20000"/>
            </a:avLst>
          </a:prstGeom>
          <a:solidFill>
            <a:schemeClr val="bg1"/>
          </a:solidFill>
          <a:ln/>
          <a:effectLst>
            <a:outerShdw blurRad="127000" dist="254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1" name="Text 8"/>
          <p:cNvSpPr txBox="1"/>
          <p:nvPr/>
        </p:nvSpPr>
        <p:spPr>
          <a:xfrm>
            <a:off x="548640" y="5641848"/>
            <a:ext cx="2130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2"/>
                </a:solidFill>
              </a:rPr>
              <a:t>Clase de accidente</a:t>
            </a:r>
            <a:endParaRPr lang="en-US" sz="1400" dirty="0"/>
          </a:p>
        </p:txBody>
      </p:sp>
      <p:sp>
        <p:nvSpPr>
          <p:cNvPr id="12" name="Condición: Comparendos · 95,5"/>
          <p:cNvSpPr/>
          <p:nvPr/>
        </p:nvSpPr>
        <p:spPr>
          <a:xfrm>
            <a:off x="2820924" y="5641848"/>
            <a:ext cx="2130552" cy="548640"/>
          </a:xfrm>
          <a:prstGeom prst="roundRect">
            <a:avLst>
              <a:gd name="adj" fmla="val 20000"/>
            </a:avLst>
          </a:prstGeom>
          <a:solidFill>
            <a:schemeClr val="bg1"/>
          </a:solidFill>
          <a:ln/>
          <a:effectLst>
            <a:outerShdw blurRad="127000" dist="254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3" name="Text 10"/>
          <p:cNvSpPr txBox="1"/>
          <p:nvPr/>
        </p:nvSpPr>
        <p:spPr>
          <a:xfrm>
            <a:off x="2820924" y="5641848"/>
            <a:ext cx="2130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2"/>
                </a:solidFill>
              </a:rPr>
              <a:t>Comparendos · 95,5</a:t>
            </a:r>
            <a:endParaRPr lang="en-US" sz="1400" dirty="0"/>
          </a:p>
        </p:txBody>
      </p:sp>
      <p:sp>
        <p:nvSpPr>
          <p:cNvPr id="14" name="Condición: Comparendos · 217,5"/>
          <p:cNvSpPr/>
          <p:nvPr/>
        </p:nvSpPr>
        <p:spPr>
          <a:xfrm>
            <a:off x="5093208" y="5641848"/>
            <a:ext cx="2130552" cy="548640"/>
          </a:xfrm>
          <a:prstGeom prst="roundRect">
            <a:avLst>
              <a:gd name="adj" fmla="val 20000"/>
            </a:avLst>
          </a:prstGeom>
          <a:solidFill>
            <a:schemeClr val="bg1"/>
          </a:solidFill>
          <a:ln/>
          <a:effectLst>
            <a:outerShdw blurRad="127000" dist="254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5" name="Text 12"/>
          <p:cNvSpPr txBox="1"/>
          <p:nvPr/>
        </p:nvSpPr>
        <p:spPr>
          <a:xfrm>
            <a:off x="5093208" y="5641848"/>
            <a:ext cx="2130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2"/>
                </a:solidFill>
              </a:rPr>
              <a:t>Comparendos · 217,5</a:t>
            </a:r>
            <a:endParaRPr lang="en-US" sz="1400" dirty="0"/>
          </a:p>
        </p:txBody>
      </p:sp>
      <p:sp>
        <p:nvSpPr>
          <p:cNvPr id="16" name="Accuracy entrenamiento"/>
          <p:cNvSpPr/>
          <p:nvPr/>
        </p:nvSpPr>
        <p:spPr>
          <a:xfrm>
            <a:off x="7498080" y="1600200"/>
            <a:ext cx="1975104" cy="1554480"/>
          </a:xfrm>
          <a:prstGeom prst="roundRect">
            <a:avLst>
              <a:gd name="adj" fmla="val 7059"/>
            </a:avLst>
          </a:prstGeom>
          <a:solidFill>
            <a:schemeClr val="tx2"/>
          </a:solidFill>
          <a:ln/>
          <a:effectLst>
            <a:outerShdw blurRad="127000" dist="254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7" name="Text 14"/>
          <p:cNvSpPr txBox="1"/>
          <p:nvPr/>
        </p:nvSpPr>
        <p:spPr>
          <a:xfrm>
            <a:off x="7680960" y="175564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chemeClr val="accent1"/>
                </a:solidFill>
              </a:rPr>
              <a:t>ENTRENAMIENTO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7680960" y="205740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bg1"/>
                </a:solidFill>
              </a:rPr>
              <a:t>57,49 %</a:t>
            </a:r>
            <a:endParaRPr lang="en-US" sz="3200" dirty="0"/>
          </a:p>
        </p:txBody>
      </p:sp>
      <p:sp>
        <p:nvSpPr>
          <p:cNvPr id="19" name="Text 16"/>
          <p:cNvSpPr txBox="1"/>
          <p:nvPr/>
        </p:nvSpPr>
        <p:spPr>
          <a:xfrm>
            <a:off x="7680960" y="269748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accent6"/>
                </a:solidFill>
              </a:rPr>
              <a:t>accuracy</a:t>
            </a:r>
            <a:endParaRPr lang="en-US" sz="1300" dirty="0"/>
          </a:p>
        </p:txBody>
      </p:sp>
      <p:sp>
        <p:nvSpPr>
          <p:cNvPr id="20" name="Accuracy prueba"/>
          <p:cNvSpPr/>
          <p:nvPr/>
        </p:nvSpPr>
        <p:spPr>
          <a:xfrm>
            <a:off x="9665208" y="1600200"/>
            <a:ext cx="1975104" cy="1554480"/>
          </a:xfrm>
          <a:prstGeom prst="roundRect">
            <a:avLst>
              <a:gd name="adj" fmla="val 7059"/>
            </a:avLst>
          </a:prstGeom>
          <a:solidFill>
            <a:schemeClr val="accent1"/>
          </a:solidFill>
          <a:ln/>
          <a:effectLst>
            <a:outerShdw blurRad="127000" dist="254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1" name="Text 18"/>
          <p:cNvSpPr txBox="1"/>
          <p:nvPr/>
        </p:nvSpPr>
        <p:spPr>
          <a:xfrm>
            <a:off x="9848088" y="175564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chemeClr val="tx2"/>
                </a:solidFill>
              </a:rPr>
              <a:t>PRUEBA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9848088" y="205740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tx2"/>
                </a:solidFill>
              </a:rPr>
              <a:t>61,31 %</a:t>
            </a:r>
            <a:endParaRPr lang="en-US" sz="3200" dirty="0"/>
          </a:p>
        </p:txBody>
      </p:sp>
      <p:sp>
        <p:nvSpPr>
          <p:cNvPr id="23" name="Text 20"/>
          <p:cNvSpPr txBox="1"/>
          <p:nvPr/>
        </p:nvSpPr>
        <p:spPr>
          <a:xfrm>
            <a:off x="9848088" y="269748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2"/>
                </a:solidFill>
              </a:rPr>
              <a:t>accuracy</a:t>
            </a:r>
            <a:endParaRPr lang="en-US" sz="1300" dirty="0"/>
          </a:p>
        </p:txBody>
      </p:sp>
      <p:sp>
        <p:nvSpPr>
          <p:cNvPr id="24" name="Aciertos y errores"/>
          <p:cNvSpPr/>
          <p:nvPr/>
        </p:nvSpPr>
        <p:spPr>
          <a:xfrm>
            <a:off x="7498080" y="3337560"/>
            <a:ext cx="4142232" cy="1554480"/>
          </a:xfrm>
          <a:prstGeom prst="roundRect">
            <a:avLst>
              <a:gd name="adj" fmla="val 7059"/>
            </a:avLst>
          </a:prstGeom>
          <a:solidFill>
            <a:schemeClr val="bg1"/>
          </a:solidFill>
          <a:ln/>
          <a:effectLst>
            <a:outerShdw blurRad="127000" dist="254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5" name="Text 22"/>
          <p:cNvSpPr txBox="1"/>
          <p:nvPr/>
        </p:nvSpPr>
        <p:spPr>
          <a:xfrm>
            <a:off x="7726680" y="347472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chemeClr val="accent5"/>
                </a:solidFill>
              </a:rPr>
              <a:t>CORRECTOS</a:t>
            </a:r>
            <a:endParaRPr lang="en-US" sz="1200" dirty="0"/>
          </a:p>
        </p:txBody>
      </p:sp>
      <p:sp>
        <p:nvSpPr>
          <p:cNvPr id="26" name="Text 23"/>
          <p:cNvSpPr txBox="1"/>
          <p:nvPr/>
        </p:nvSpPr>
        <p:spPr>
          <a:xfrm>
            <a:off x="9692640" y="347472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chemeClr val="accent5"/>
                </a:solidFill>
              </a:rPr>
              <a:t>INCORRECTOS</a:t>
            </a:r>
            <a:endParaRPr lang="en-US" sz="1200" dirty="0"/>
          </a:p>
        </p:txBody>
      </p:sp>
      <p:sp>
        <p:nvSpPr>
          <p:cNvPr id="27" name="Text 24"/>
          <p:cNvSpPr txBox="1"/>
          <p:nvPr/>
        </p:nvSpPr>
        <p:spPr>
          <a:xfrm>
            <a:off x="7726680" y="374904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tx2"/>
                </a:solidFill>
              </a:rPr>
              <a:t>374</a:t>
            </a:r>
            <a:r>
              <a:rPr lang="en-US" sz="1400" dirty="0">
                <a:solidFill>
                  <a:schemeClr val="tx2"/>
                </a:solidFill>
              </a:rPr>
              <a:t>  de 610</a:t>
            </a:r>
            <a:endParaRPr lang="en-US" sz="3200" dirty="0"/>
          </a:p>
        </p:txBody>
      </p:sp>
      <p:sp>
        <p:nvSpPr>
          <p:cNvPr id="28" name="Text 25"/>
          <p:cNvSpPr txBox="1"/>
          <p:nvPr/>
        </p:nvSpPr>
        <p:spPr>
          <a:xfrm>
            <a:off x="9692640" y="374904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tx2"/>
                </a:solidFill>
              </a:rPr>
              <a:t>236</a:t>
            </a:r>
            <a:r>
              <a:rPr lang="en-US" sz="1400" dirty="0">
                <a:solidFill>
                  <a:schemeClr val="tx2"/>
                </a:solidFill>
              </a:rPr>
              <a:t>  de 610</a:t>
            </a:r>
            <a:endParaRPr lang="en-US" sz="3200" dirty="0"/>
          </a:p>
        </p:txBody>
      </p:sp>
      <p:sp>
        <p:nvSpPr>
          <p:cNvPr id="29" name="Shape 26"/>
          <p:cNvSpPr/>
          <p:nvPr/>
        </p:nvSpPr>
        <p:spPr>
          <a:xfrm>
            <a:off x="7726680" y="4480560"/>
            <a:ext cx="3685032" cy="18288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0" name="Shape 27"/>
          <p:cNvSpPr/>
          <p:nvPr/>
        </p:nvSpPr>
        <p:spPr>
          <a:xfrm>
            <a:off x="7726680" y="4480560"/>
            <a:ext cx="2259347" cy="18288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1" name="Cuadro destacado"/>
          <p:cNvSpPr/>
          <p:nvPr/>
        </p:nvSpPr>
        <p:spPr>
          <a:xfrm>
            <a:off x="7498080" y="5074920"/>
            <a:ext cx="4142232" cy="1143000"/>
          </a:xfrm>
          <a:prstGeom prst="roundRect">
            <a:avLst>
              <a:gd name="adj" fmla="val 9600"/>
            </a:avLst>
          </a:prstGeom>
          <a:solidFill>
            <a:schemeClr val="tx2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2" name="Text 29"/>
          <p:cNvSpPr txBox="1"/>
          <p:nvPr/>
        </p:nvSpPr>
        <p:spPr>
          <a:xfrm>
            <a:off x="7726680" y="5148072"/>
            <a:ext cx="3685032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Interpretación: </a:t>
            </a:r>
            <a:r>
              <a:rPr lang="en-US" sz="1400" dirty="0">
                <a:solidFill>
                  <a:schemeClr val="bg1"/>
                </a:solidFill>
              </a:rPr>
              <a:t>el modelo clasifica algunos patrones, pero todavía presenta errores importantes.</a:t>
            </a:r>
            <a:endParaRPr lang="en-US" sz="1400" dirty="0"/>
          </a:p>
        </p:txBody>
      </p:sp>
      <p:sp>
        <p:nvSpPr>
          <p:cNvPr id="3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5912" y="6419088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  <p:pic>
        <p:nvPicPr>
          <p:cNvPr id="35" name="Imagen 34">
            <a:extLst>
              <a:ext uri="{FF2B5EF4-FFF2-40B4-BE49-F238E27FC236}">
                <a16:creationId xmlns:a16="http://schemas.microsoft.com/office/drawing/2014/main" id="{8600ACE3-A809-B00E-12BD-F736E6B68B3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970" r="6302" b="4954"/>
          <a:stretch>
            <a:fillRect/>
          </a:stretch>
        </p:blipFill>
        <p:spPr>
          <a:xfrm>
            <a:off x="440344" y="1413440"/>
            <a:ext cx="6710117" cy="366148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 de sección"/>
          <p:cNvSpPr/>
          <p:nvPr/>
        </p:nvSpPr>
        <p:spPr>
          <a:xfrm>
            <a:off x="548640" y="384048"/>
            <a:ext cx="2468880" cy="29260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694944" y="475488"/>
            <a:ext cx="109728" cy="109728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 txBox="1"/>
          <p:nvPr/>
        </p:nvSpPr>
        <p:spPr>
          <a:xfrm>
            <a:off x="896112" y="38404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chemeClr val="tx2"/>
                </a:solidFill>
              </a:rPr>
              <a:t>ÁRBOL DE DECISIÓN</a:t>
            </a:r>
            <a:endParaRPr lang="en-US" sz="1200" dirty="0"/>
          </a:p>
        </p:txBody>
      </p:sp>
      <p:sp>
        <p:nvSpPr>
          <p:cNvPr id="5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749808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2"/>
                </a:solidFill>
              </a:rPr>
              <a:t>Matriz de confusión y conclusiones</a:t>
            </a:r>
            <a:endParaRPr lang="en-US" sz="3400" dirty="0"/>
          </a:p>
        </p:txBody>
      </p:sp>
      <p:sp>
        <p:nvSpPr>
          <p:cNvPr id="10" name="Conclusiones finales"/>
          <p:cNvSpPr/>
          <p:nvPr/>
        </p:nvSpPr>
        <p:spPr>
          <a:xfrm>
            <a:off x="5303520" y="3703320"/>
            <a:ext cx="6336792" cy="1783080"/>
          </a:xfrm>
          <a:prstGeom prst="roundRect">
            <a:avLst>
              <a:gd name="adj" fmla="val 6154"/>
            </a:avLst>
          </a:prstGeom>
          <a:solidFill>
            <a:schemeClr val="bg1"/>
          </a:solidFill>
          <a:ln/>
          <a:effectLst>
            <a:outerShdw blurRad="127000" dist="254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1" name="Text 7"/>
          <p:cNvSpPr txBox="1"/>
          <p:nvPr/>
        </p:nvSpPr>
        <p:spPr>
          <a:xfrm>
            <a:off x="5532120" y="382219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chemeClr val="accent5"/>
                </a:solidFill>
              </a:rPr>
              <a:t>CONCLUSIONES FINALES</a:t>
            </a:r>
            <a:endParaRPr lang="en-US" sz="1200" dirty="0"/>
          </a:p>
        </p:txBody>
      </p:sp>
      <p:sp>
        <p:nvSpPr>
          <p:cNvPr id="12" name="Text 8"/>
          <p:cNvSpPr txBox="1"/>
          <p:nvPr/>
        </p:nvSpPr>
        <p:spPr>
          <a:xfrm>
            <a:off x="5532120" y="4114800"/>
            <a:ext cx="5897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El EDA identificó patrones y limitaciones en los datos, especialmente en la variable lluvia.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Las correlaciones observadas fueron débiles.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El árbol obtuvo un accuracy de prueba del 61,31 %, pero requiere mejoras para identificar los días de accidentalidad </a:t>
            </a:r>
            <a:r>
              <a:rPr lang="en-US" sz="1400" dirty="0" err="1">
                <a:solidFill>
                  <a:schemeClr val="tx1"/>
                </a:solidFill>
              </a:rPr>
              <a:t>alta.</a:t>
            </a:r>
            <a:endParaRPr lang="en-US" sz="1400" dirty="0"/>
          </a:p>
        </p:txBody>
      </p:sp>
      <p:sp>
        <p:nvSpPr>
          <p:cNvPr id="13" name="Cuadro destacado"/>
          <p:cNvSpPr/>
          <p:nvPr/>
        </p:nvSpPr>
        <p:spPr>
          <a:xfrm>
            <a:off x="548640" y="5669280"/>
            <a:ext cx="11091672" cy="640080"/>
          </a:xfrm>
          <a:prstGeom prst="roundRect">
            <a:avLst>
              <a:gd name="adj" fmla="val 17143"/>
            </a:avLst>
          </a:prstGeom>
          <a:solidFill>
            <a:schemeClr val="tx2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4" name="Text 10"/>
          <p:cNvSpPr txBox="1"/>
          <p:nvPr/>
        </p:nvSpPr>
        <p:spPr>
          <a:xfrm>
            <a:off x="777240" y="5742432"/>
            <a:ext cx="1063447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Cierre: </a:t>
            </a:r>
            <a:r>
              <a:rPr lang="en-US" sz="1400" dirty="0">
                <a:solidFill>
                  <a:schemeClr val="bg1"/>
                </a:solidFill>
              </a:rPr>
              <a:t>el modelo clasifica niveles de accidentalidad; no predice cantidades exactas ni causalidad.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5912" y="6419088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  <p:sp>
        <p:nvSpPr>
          <p:cNvPr id="16" name="Text 8">
            <a:extLst>
              <a:ext uri="{FF2B5EF4-FFF2-40B4-BE49-F238E27FC236}">
                <a16:creationId xmlns:a16="http://schemas.microsoft.com/office/drawing/2014/main" id="{E09ED54E-812D-F184-58DF-F0590CD82818}"/>
              </a:ext>
            </a:extLst>
          </p:cNvPr>
          <p:cNvSpPr txBox="1"/>
          <p:nvPr/>
        </p:nvSpPr>
        <p:spPr>
          <a:xfrm>
            <a:off x="5678069" y="1803247"/>
            <a:ext cx="5962243" cy="13514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fontAlgn="ctr"/>
            <a:r>
              <a:rPr lang="en-US" b="1" dirty="0"/>
              <a:t>Resultado </a:t>
            </a:r>
            <a:r>
              <a:rPr lang="en-US" b="1" dirty="0" err="1"/>
              <a:t>Registros</a:t>
            </a:r>
            <a:endParaRPr lang="es-CO" dirty="0"/>
          </a:p>
          <a:p>
            <a:pPr fontAlgn="ctr"/>
            <a:r>
              <a:rPr lang="en-US" dirty="0" err="1"/>
              <a:t>Accidentes</a:t>
            </a:r>
            <a:r>
              <a:rPr lang="en-US" dirty="0"/>
              <a:t> </a:t>
            </a:r>
            <a:r>
              <a:rPr lang="en-US" dirty="0" err="1"/>
              <a:t>bajos</a:t>
            </a:r>
            <a:r>
              <a:rPr lang="en-US" dirty="0"/>
              <a:t> </a:t>
            </a:r>
            <a:r>
              <a:rPr lang="en-US" dirty="0" err="1"/>
              <a:t>clasificados</a:t>
            </a:r>
            <a:r>
              <a:rPr lang="en-US" dirty="0"/>
              <a:t> </a:t>
            </a:r>
            <a:r>
              <a:rPr lang="en-US" dirty="0" err="1"/>
              <a:t>correctamente</a:t>
            </a:r>
            <a:r>
              <a:rPr lang="en-US" dirty="0"/>
              <a:t> </a:t>
            </a:r>
            <a:r>
              <a:rPr lang="en-US" b="1" dirty="0"/>
              <a:t>219</a:t>
            </a:r>
            <a:endParaRPr lang="es-CO" dirty="0"/>
          </a:p>
          <a:p>
            <a:pPr fontAlgn="ctr"/>
            <a:r>
              <a:rPr lang="en-US" dirty="0" err="1"/>
              <a:t>Accidentes</a:t>
            </a:r>
            <a:r>
              <a:rPr lang="en-US" dirty="0"/>
              <a:t> </a:t>
            </a:r>
            <a:r>
              <a:rPr lang="en-US" dirty="0" err="1"/>
              <a:t>bajos</a:t>
            </a:r>
            <a:r>
              <a:rPr lang="en-US" dirty="0"/>
              <a:t> </a:t>
            </a:r>
            <a:r>
              <a:rPr lang="en-US" dirty="0" err="1"/>
              <a:t>clasificados</a:t>
            </a:r>
            <a:r>
              <a:rPr lang="en-US" dirty="0"/>
              <a:t> </a:t>
            </a:r>
            <a:r>
              <a:rPr lang="en-US" dirty="0" err="1"/>
              <a:t>como</a:t>
            </a:r>
            <a:r>
              <a:rPr lang="en-US" dirty="0"/>
              <a:t> altos </a:t>
            </a:r>
            <a:r>
              <a:rPr lang="en-US" b="1" dirty="0"/>
              <a:t>112</a:t>
            </a:r>
            <a:endParaRPr lang="es-CO" dirty="0"/>
          </a:p>
          <a:p>
            <a:pPr fontAlgn="ctr"/>
            <a:r>
              <a:rPr lang="en-US" b="1" dirty="0" err="1"/>
              <a:t>Accidentes</a:t>
            </a:r>
            <a:r>
              <a:rPr lang="en-US" b="1" dirty="0"/>
              <a:t> altos </a:t>
            </a:r>
            <a:r>
              <a:rPr lang="en-US" b="1" dirty="0" err="1"/>
              <a:t>clasificados</a:t>
            </a:r>
            <a:r>
              <a:rPr lang="en-US" b="1" dirty="0"/>
              <a:t> </a:t>
            </a:r>
            <a:r>
              <a:rPr lang="en-US" b="1" dirty="0" err="1"/>
              <a:t>como</a:t>
            </a:r>
            <a:r>
              <a:rPr lang="en-US" b="1" dirty="0"/>
              <a:t> </a:t>
            </a:r>
            <a:r>
              <a:rPr lang="en-US" b="1" dirty="0" err="1"/>
              <a:t>bajos</a:t>
            </a:r>
            <a:r>
              <a:rPr lang="en-US" b="1" dirty="0"/>
              <a:t> 124</a:t>
            </a:r>
            <a:endParaRPr lang="es-CO" dirty="0"/>
          </a:p>
          <a:p>
            <a:pPr fontAlgn="ctr"/>
            <a:r>
              <a:rPr lang="en-US" dirty="0" err="1"/>
              <a:t>Accidentes</a:t>
            </a:r>
            <a:r>
              <a:rPr lang="en-US" dirty="0"/>
              <a:t> altos </a:t>
            </a:r>
            <a:r>
              <a:rPr lang="en-US" dirty="0" err="1"/>
              <a:t>clasificados</a:t>
            </a:r>
            <a:r>
              <a:rPr lang="en-US" dirty="0"/>
              <a:t> </a:t>
            </a:r>
            <a:r>
              <a:rPr lang="en-US" dirty="0" err="1"/>
              <a:t>correctamente</a:t>
            </a:r>
            <a:r>
              <a:rPr lang="en-US" dirty="0"/>
              <a:t> </a:t>
            </a:r>
            <a:r>
              <a:rPr lang="en-US" b="1" dirty="0"/>
              <a:t>155</a:t>
            </a:r>
            <a:endParaRPr lang="es-CO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endParaRPr lang="en-US" sz="1400" dirty="0"/>
          </a:p>
        </p:txBody>
      </p:sp>
      <p:pic>
        <p:nvPicPr>
          <p:cNvPr id="18" name="Imagen 17">
            <a:extLst>
              <a:ext uri="{FF2B5EF4-FFF2-40B4-BE49-F238E27FC236}">
                <a16:creationId xmlns:a16="http://schemas.microsoft.com/office/drawing/2014/main" id="{A21E3EB3-2032-A3FB-BCB2-FE397678DC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554480"/>
            <a:ext cx="4825491" cy="378924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Accidentes Barranquilla">
  <a:themeElements>
    <a:clrScheme name="Accidentes Barranquilla">
      <a:dk1>
        <a:srgbClr val="0B1220"/>
      </a:dk1>
      <a:lt1>
        <a:srgbClr val="FFFFFF"/>
      </a:lt1>
      <a:dk2>
        <a:srgbClr val="14213D"/>
      </a:dk2>
      <a:lt2>
        <a:srgbClr val="F1F5F9"/>
      </a:lt2>
      <a:accent1>
        <a:srgbClr val="F59E0B"/>
      </a:accent1>
      <a:accent2>
        <a:srgbClr val="0F766E"/>
      </a:accent2>
      <a:accent3>
        <a:srgbClr val="DC2626"/>
      </a:accent3>
      <a:accent4>
        <a:srgbClr val="2563EB"/>
      </a:accent4>
      <a:accent5>
        <a:srgbClr val="64748B"/>
      </a:accent5>
      <a:accent6>
        <a:srgbClr val="94A3B8"/>
      </a:accent6>
      <a:hlink>
        <a:srgbClr val="2563EB"/>
      </a:hlink>
      <a:folHlink>
        <a:srgbClr val="64748B"/>
      </a:folHlink>
    </a:clrScheme>
    <a:fontScheme name="Accidentes Barranquilla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546</TotalTime>
  <Words>588</Words>
  <Application>Microsoft Office PowerPoint</Application>
  <PresentationFormat>Panorámica</PresentationFormat>
  <Paragraphs>135</Paragraphs>
  <Slides>8</Slides>
  <Notes>8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1" baseType="lpstr">
      <vt:lpstr>Arial</vt:lpstr>
      <vt:lpstr>Calibri</vt:lpstr>
      <vt:lpstr>Accidentes Barranquilla</vt:lpstr>
      <vt:lpstr>Análisis de datos y clasificación de accidentes de tránsito en Barranquilla</vt:lpstr>
      <vt:lpstr>Contexto, objetivo y metodología</vt:lpstr>
      <vt:lpstr>Distribución y valores atípicos</vt:lpstr>
      <vt:lpstr>Distribución de categorías</vt:lpstr>
      <vt:lpstr>Correlaciones y hallazgos del EDA</vt:lpstr>
      <vt:lpstr>Objetivo, variables y construcción del árbol</vt:lpstr>
      <vt:lpstr>Reglas y evaluación del modelo</vt:lpstr>
      <vt:lpstr>Matriz de confusión y conclusiones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Análisis de datos y clasificación de accidentes de tránsito en Barranquilla</dc:title>
  <dc:subject>PptxGenJS Presentation</dc:subject>
  <dc:creator>Jhon Jairo Carvajal Olaya</dc:creator>
  <cp:lastModifiedBy>Lorena Barragan</cp:lastModifiedBy>
  <cp:revision>2</cp:revision>
  <dcterms:created xsi:type="dcterms:W3CDTF">2026-10-26T03:44:51Z</dcterms:created>
  <dcterms:modified xsi:type="dcterms:W3CDTF">2026-10-26T12:53:16Z</dcterms:modified>
</cp:coreProperties>
</file>